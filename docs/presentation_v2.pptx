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566160"/>
            <a:ext cx="12188952" cy="54864"/>
          </a:xfrm>
          <a:prstGeom prst="rect">
            <a:avLst/>
          </a:prstGeom>
          <a:solidFill>
            <a:srgbClr val="D9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PreSaltOntoLearn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AACCEE"/>
                </a:solidFill>
              </a:rPr>
              <a:t>Automated Ontology Learning
for Brazilian Pre-Salt Petroleum Geology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ACC"/>
                </a:solidFill>
              </a:rPr>
              <a:t>Supervisor presentation  ·  PPGC / UFRGS  ·  2024–2025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3A5C"/>
                </a:solidFill>
              </a:rPr>
              <a:t>Building a domain ontology by hand is a bottleneck.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333333"/>
                </a:solidFill>
              </a:rPr>
              <a:t>▸  Read every paper to identify relevant terminology</a:t>
            </a:r>
          </a:p>
          <a:p>
            <a:pPr algn="l"/>
            <a:r>
              <a:rPr sz="1700">
                <a:solidFill>
                  <a:srgbClr val="333333"/>
                </a:solidFill>
              </a:rPr>
              <a:t>▸  Write precise Aristotelian definitions for each term</a:t>
            </a:r>
          </a:p>
          <a:p>
            <a:pPr algn="l"/>
            <a:r>
              <a:rPr sz="1700">
                <a:solidFill>
                  <a:srgbClr val="333333"/>
                </a:solidFill>
              </a:rPr>
              <a:t>▸  Classify each term into the correct upper ontology concept</a:t>
            </a:r>
          </a:p>
          <a:p>
            <a:pPr algn="l"/>
            <a:r>
              <a:rPr sz="1700">
                <a:solidFill>
                  <a:srgbClr val="333333"/>
                </a:solidFill>
              </a:rPr>
              <a:t>▸  Arrange terms into a parent-child taxonomy hierarchy</a:t>
            </a:r>
          </a:p>
          <a:p>
            <a:pPr algn="l"/>
            <a:r>
              <a:rPr sz="1700">
                <a:solidFill>
                  <a:srgbClr val="333333"/>
                </a:solidFill>
              </a:rPr>
              <a:t>▸  Export everything as a valid OWL 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05840"/>
            <a:ext cx="5394960" cy="411480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333333"/>
                </a:solidFill>
              </a:rPr>
              <a:t>Domain: Brazilian Pre-Salt
Carbonate Reservoirs
• Giant oil provinces (Santos, Campos basin)
• Complex lacustrine carbonates:
  coquina, microbial carbonate, spherulite
• Specialised vocabulary underrepresented
  in general LLM training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6C10"/>
                </a:solidFill>
              </a:rPr>
              <a:t>⟹  A scalable, automated approach is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Research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Can LLMs + RAG automate ontology learning
for an underrepresented scientific domain?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6986"/>
                </a:solidFill>
              </a:rPr>
              <a:t>Specific goals: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333333"/>
                </a:solidFill>
              </a:rPr>
              <a:t>▸  Extract terminology from ~80 Pre-Salt geology papers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▸  Generate NLDs grounded in the literature via RAG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▸  Classify terms into BFO / GeoCore / GeoReservoir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▸  Build and export a formal OWL taxonomy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▸  Validate empirically via ablation study + expert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6986"/>
                </a:solidFill>
              </a:rPr>
              <a:t>Central hypothesis: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560320"/>
            <a:ext cx="5212080" cy="320040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333333"/>
                </a:solidFill>
              </a:rPr>
              <a:t>"RAG-grounded Aristotelian NLDs
provide better upper-ontology
classification than bare term strings."
Grounded in: Lopes Junior (2024)
Extends to: LLM-generated NLDs for
underrepresented domains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Theoretical Basis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Lopes Junior (2024)  —  PhD thesis, PPGC/UFRGS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</a:rPr>
              <a:t>"Automatic Classification of Domain Entities into Top-Level Ontology Concepts Using Natural Language Definitions"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3657600" cy="274320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A3A5C"/>
                </a:solidFill>
              </a:rPr>
              <a:t>NLDs outperform all other representations
&gt;90% macro-F1 on BFO
across 110 ontologies, 12 domains
vs. term-alone, raw definition, example sentences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2011680"/>
            <a:ext cx="3657600" cy="274320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A3A5C"/>
                </a:solidFill>
              </a:rPr>
              <a:t>Aristotelian form is key
"X is a Y that Z"
Genus (Y) = intermediate node name
Differentia (Z) = disambiguator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84464" y="2011680"/>
            <a:ext cx="3657600" cy="2743200"/>
          </a:xfrm>
          <a:prstGeom prst="rect">
            <a:avLst/>
          </a:prstGeom>
          <a:solidFill>
            <a:srgbClr val="FFF0E0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D96C10"/>
                </a:solidFill>
              </a:rPr>
              <a:t>Our extension
Generate NLDs via RAG + LLM
(not pre-curated)
Validate on Pre-Salt geology
— new domain, new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6986"/>
                </a:solidFill>
              </a:rPr>
              <a:t>Ablation A vs C replicates Lopes Junior SC1 (NLD &gt; definiendum) on a new domain and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7-Step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88720" cy="146304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0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PDF
Ingest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PDF → MD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72184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2768" y="1371600"/>
            <a:ext cx="1188720" cy="1463040"/>
          </a:xfrm>
          <a:prstGeom prst="rect">
            <a:avLst/>
          </a:prstGeom>
          <a:solidFill>
            <a:srgbClr val="1A3A5C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RAG
Index</a:t>
            </a:r>
          </a:p>
          <a:p>
            <a:pPr algn="ctr"/>
            <a:r>
              <a:rPr sz="900">
                <a:solidFill>
                  <a:srgbClr val="AACCEE"/>
                </a:solidFill>
              </a:rPr>
              <a:t>ChromaDB
+BM25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70632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71216" y="1371600"/>
            <a:ext cx="1188720" cy="146304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1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Term
Extract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LLM per
doc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9664" y="1371600"/>
            <a:ext cx="1188720" cy="146304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2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Aggregate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Lemma
+count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67528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68112" y="1371600"/>
            <a:ext cx="1188720" cy="146304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3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Filter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≥3 docs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5976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66560" y="1371600"/>
            <a:ext cx="1188720" cy="1463040"/>
          </a:xfrm>
          <a:prstGeom prst="rect">
            <a:avLst/>
          </a:prstGeom>
          <a:solidFill>
            <a:srgbClr val="E0F3F6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4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Define
(NLD)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RAG+LLM
 Aristotelian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64424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371600"/>
            <a:ext cx="1188720" cy="1463040"/>
          </a:xfrm>
          <a:prstGeom prst="rect">
            <a:avLst/>
          </a:prstGeom>
          <a:solidFill>
            <a:srgbClr val="E0F3F6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5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Classify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Waterfall
TLO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62872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63456" y="1371600"/>
            <a:ext cx="1188720" cy="146304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6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Taxonomy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Hierarchy
builder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61320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61904" y="1371600"/>
            <a:ext cx="1188720" cy="146304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7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OWL
Export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→ .ttl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6986"/>
                </a:solidFill>
              </a:rPr>
              <a:t>⤵ provides retrieval context to Steps 4 &amp;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Final output:  output/7_ontology.ttl  (Protégé-compatible OWL/Turtle)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3192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0: PDF papers → Markdown using pymupdf4llm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3367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R: Chunk + embed all docs (BGE-M3 dense + BM25 sparse) → ChromaDB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35424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1: LLM reads each doc and extracts geological terms (Gemini 2.5 Pro)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3717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2: Lemmatise + count occurrences across the corpus (spaCy)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389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3: Keep terms appearing in ≥3 papers (3.75% corpus consensus)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40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4: Retrieve top-5 passages + generate Aristotelian NLD per term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42431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5: Classify term+NLD → GeoReservoir / GeoCore / BFO (waterfall)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044183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6: LLM builds parent-child hierarchy per group using NLD genera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34593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7: rdflib → OWL Turtle with rdfs:subClassOf and rdfs:comment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Upper Ontology Stack — Waterfall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1508760"/>
          </a:xfrm>
          <a:prstGeom prst="rect">
            <a:avLst/>
          </a:prstGeom>
          <a:solidFill>
            <a:srgbClr val="E8F4FF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A3A5C"/>
                </a:solidFill>
              </a:rPr>
              <a:t>BFO — Basic Formal Ontology
Foundational universals shared across all scientific domains
Examples:  process · quality · material entity · continuant · occurrent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10515600" cy="1508760"/>
          </a:xfrm>
          <a:prstGeom prst="rect">
            <a:avLst/>
          </a:prstGeom>
          <a:solidFill>
            <a:srgbClr val="D4EDD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55A2A"/>
                </a:solidFill>
              </a:rPr>
              <a:t>GeoCore — General Geoscience
Generic geological concepts applicable across all geoscience subdomains
Examples:  Geological Structure · Sedimentary Rock · Diagenetic Process · Rock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4434840"/>
            <a:ext cx="9784080" cy="1508760"/>
          </a:xfrm>
          <a:prstGeom prst="rect">
            <a:avLst/>
          </a:prstGeom>
          <a:solidFill>
            <a:srgbClr val="FFF3CD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854500"/>
                </a:solidFill>
              </a:rPr>
              <a:t>GeoReservoir — Petroleum Geology
Petroleum-geology-specific concepts (checked first — highest priority)
Examples:  Porosity Type · Reservoir Seal · Hydrocarbon Column · Cap Rock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6986"/>
                </a:solidFill>
              </a:rPr>
              <a:t>Priority: GeoReservoir  ▸  GeoCore  ▸  BFO  ▸  NOT_CLASSIFIED
Each term is mapped to the most domain-specific applicable namespace.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Natural Language Definitions (NLDs) +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Why Aristotelian NLDs?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</a:rPr>
              <a:t>▸  Explicit genus (Y): used as intermediate node name in taxonomy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Differentia (Z): resolves polysemy without additional context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Proven: &gt;90% macro-F1 on BFO (Lopes Junior 2024)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Consistent structure across all terms at temp=0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5486400" cy="265176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333333"/>
                </a:solidFill>
              </a:rPr>
              <a:t>Example NLD (Step 4 output):
"Dolomitization is a diagenetic process
that replaces original calcium carbonate
minerals with dolomite through the
substitution of Ca²⁺ by Mg²⁺ ions from
Mg-rich fluids, commonly enhancing
reservoir porosity and permeability."
Genus:  diagenetic process
→ intermediate node in Step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Why Retrieval-Augmented Generation (RAG)?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</a:rPr>
              <a:t>▸  Pre-Salt geology is underrepresented in LLM training data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RAG retrieves passages from the actual corpus literature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Grounds definitions in peer-reviewed sources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Prevents hallucination of domain-specific facts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840480"/>
            <a:ext cx="5486400" cy="265176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333333"/>
                </a:solidFill>
              </a:rPr>
              <a:t>Hybrid retrieval for each term:
1. BGE-M3 dense embeddings (ChromaDB, k=20)
2. BM25 keyword search (k=20)
3. Reciprocal Rank Fusion (RRF)
4. BGE-Reranker cross-encoder → top-5
Chunk size: 1024 characters
Chunk overlap: 100 characters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Ablation Study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Same set of filtered terms — 4 conditions vary Steps 4-5 only: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011680" cy="512064"/>
          </a:xfrm>
          <a:prstGeom prst="rect">
            <a:avLst/>
          </a:prstGeom>
          <a:solidFill>
            <a:srgbClr val="1A3A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Condition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463040"/>
            <a:ext cx="5120640" cy="512064"/>
          </a:xfrm>
          <a:prstGeom prst="rect">
            <a:avLst/>
          </a:prstGeom>
          <a:solidFill>
            <a:srgbClr val="1A3A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463040"/>
            <a:ext cx="4114800" cy="512064"/>
          </a:xfrm>
          <a:prstGeom prst="rect">
            <a:avLst/>
          </a:prstGeom>
          <a:solidFill>
            <a:srgbClr val="1A3A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Comparison reveals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75104"/>
            <a:ext cx="20116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A  —  Full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975104"/>
            <a:ext cx="512064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RAG retrieval + Aristotelian NLD + classification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975104"/>
            <a:ext cx="41148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87168"/>
            <a:ext cx="2011680" cy="512064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B  —  No RAG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2487168"/>
            <a:ext cx="5120640" cy="512064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NLD generated from LLM knowledge only (no retrieval)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487168"/>
            <a:ext cx="4114800" cy="512064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A vs B  →  RAG contribution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99232"/>
            <a:ext cx="20116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C  —  No NLD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2999232"/>
            <a:ext cx="512064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Classification from bare term string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999232"/>
            <a:ext cx="41148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A vs C  →  NLD contribution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11296"/>
            <a:ext cx="2011680" cy="512064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D  —  Raw RAG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3511296"/>
            <a:ext cx="5120640" cy="512064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Raw retrieved passages as context (no structured NLD)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3511296"/>
            <a:ext cx="4114800" cy="512064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A vs D  →  NLD structuring benefit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97680"/>
            <a:ext cx="11247120" cy="822960"/>
          </a:xfrm>
          <a:prstGeom prst="rect">
            <a:avLst/>
          </a:prstGeom>
          <a:solidFill>
            <a:srgbClr val="FFF3CD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854500"/>
                </a:solidFill>
              </a:rPr>
              <a:t>A vs C  directly replicates  Lopes Junior (2024) Study Case 1:
"NLD &gt; definiendum (term-alone) for top-level ontology classification"
— now tested on a new domain (Pre-Salt geology) and new architecture (RAG-augmented LLM)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57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</a:rPr>
              <a:t>Steps 6-7 (taxonomy + OWL) run on the winning condition only.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</a:rPr>
              <a:t>Conditions C and D include Condition A terms for direct comparison.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Evaluation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94960" cy="457200"/>
          </a:xfrm>
          <a:prstGeom prst="rect">
            <a:avLst/>
          </a:prstGeom>
          <a:solidFill>
            <a:srgbClr val="1A3A5C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FFFFFF"/>
                </a:solidFill>
              </a:rPr>
              <a:t>Layer 1 — Automated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</a:rPr>
              <a:t>▸  Cross-condition agreement matrices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Cochran's Q significance test (4 conditions)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Category migration analysis (A→B, A→C, A→D)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NOT_CLASSIFIED rate per condition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Context_Used ratio (Steps 4A vs 4B)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05840"/>
            <a:ext cx="5394960" cy="457200"/>
          </a:xfrm>
          <a:prstGeom prst="rect">
            <a:avLst/>
          </a:prstGeom>
          <a:solidFill>
            <a:srgbClr val="0D6986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FFFFFF"/>
                </a:solidFill>
              </a:rPr>
              <a:t>Layer 2 — Expert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</a:rPr>
              <a:t>▸  Term relevance  (Is this term important?)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NLD quality  (A vs B, blinded — which is more precise?)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Category correctness  (Is the assigned category right?)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Statistics: Wilcoxon signed-rank, Friedman,
  ICC, Fleiss' kappa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Workflow: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49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Run ablation (–-ablation)  →  Layer 1 analysis (--analysis)  →  Generate expert workbook (--expert-eval)  →  Expert review  →  Layer 2 analysis (--layer2-analysis)  →  Select winning condition  →  Taxonomy + OWL (--taxonomy / --owl)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Current Status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94960" cy="457200"/>
          </a:xfrm>
          <a:prstGeom prst="rect">
            <a:avLst/>
          </a:prstGeom>
          <a:solidFill>
            <a:srgbClr val="1E7E34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FFFFFF"/>
                </a:solidFill>
              </a:rPr>
              <a:t>✔ 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</a:rPr>
              <a:t>▸  Full pipeline implemented (Steps 0-7)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E2E automated test passing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All LLM prompts finalized (pre-ablation hardening)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Ablation study runner with checkpointing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Layer 1 &amp; Layer 2 analysis code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Expert evaluation spreadsheet generator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OWL format validated in Protégé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Documentation updated (README, CONTEXT, OVERVIEW)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05840"/>
            <a:ext cx="5394960" cy="457200"/>
          </a:xfrm>
          <a:prstGeom prst="rect">
            <a:avLst/>
          </a:prstGeom>
          <a:solidFill>
            <a:srgbClr val="D96C10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FFFFFF"/>
                </a:solidFill>
              </a:rPr>
              <a:t>▶ 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</a:rPr>
              <a:t>▸  Expand corpus: 40 → 80 papers (in progress)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Re-run extraction (Steps 1-3) on full corpus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Run 4-condition ablation study on full term set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Run Layer 1 automated analysis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Select top ~100 terms for expert evaluation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Expert review + Layer 2 statistical analysis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Build final taxonomy + OWL on winning condition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Thesis write-up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2188952" cy="54864"/>
          </a:xfrm>
          <a:prstGeom prst="rect">
            <a:avLst/>
          </a:prstGeom>
          <a:solidFill>
            <a:srgbClr val="D9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Thesis Contribution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657600" cy="4297680"/>
          </a:xfrm>
          <a:prstGeom prst="rect">
            <a:avLst/>
          </a:prstGeom>
          <a:solidFill>
            <a:srgbClr val="25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96C1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RAG-grounded NLD generation for underrepresented domains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EE"/>
                </a:solidFill>
              </a:rPr>
              <a:t>First pipeline to auto-generate Aristotelian NLDs from literature
and use them for upper-ontology classification — filling the gap
between Lopes Junior (2024) and real-world ontology learning.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828800"/>
            <a:ext cx="3657600" cy="4297680"/>
          </a:xfrm>
          <a:prstGeom prst="rect">
            <a:avLst/>
          </a:prstGeom>
          <a:solidFill>
            <a:srgbClr val="25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96C10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468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Empirical ablation on a new domain +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30632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EE"/>
                </a:solidFill>
              </a:rPr>
              <a:t>4-condition study (Full / NoRAG / NoNLD / RawRAG) replicates
Lopes Junior SC1, validating both NLD and RAG contributions
on Brazilian Pre-Salt geology.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4464" y="1828800"/>
            <a:ext cx="3657600" cy="4297680"/>
          </a:xfrm>
          <a:prstGeom prst="rect">
            <a:avLst/>
          </a:prstGeom>
          <a:solidFill>
            <a:srgbClr val="25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7344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96C10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2468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Full automated pipeline from PDFs to OWL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30632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EE"/>
                </a:solidFill>
              </a:rPr>
              <a:t>Reproducible, configurable pipeline — PDF ingest through
Protégé-ready OWL Turtle export — with two-layer evaluation
framework for thesis-quality validation.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AACC"/>
                </a:solidFill>
              </a:rPr>
              <a:t>Lopes Junior, A.G. (2024). Automatic Classification of Domain Entities into Top-Level Ontology Concepts Using Natural Language Definitions. PhD thesis, PPGC/UFRGS.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RAG Architecture — Hybrid Retrieval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4846320" cy="301752"/>
          </a:xfrm>
          <a:prstGeom prst="rect">
            <a:avLst/>
          </a:prstGeom>
          <a:solidFill>
            <a:srgbClr val="4A2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QUERY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07592"/>
            <a:ext cx="4846320" cy="448056"/>
          </a:xfrm>
          <a:prstGeom prst="rect">
            <a:avLst/>
          </a:prstGeom>
          <a:solidFill>
            <a:srgbClr val="F0EAFF"/>
          </a:solidFill>
          <a:ln>
            <a:solidFill>
              <a:srgbClr val="4A2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333333"/>
                </a:solidFill>
              </a:rPr>
              <a:t>Term name  (e.g. "Dolomitization")
from Step 3 filtered term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15768" y="1755648"/>
            <a:ext cx="54864" cy="23774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9339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6986"/>
                </a:solidFill>
              </a:rPr>
              <a:t>── Parallel retrieval  (k = 20 each) ──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249424"/>
            <a:ext cx="2212848" cy="301752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BGE-M3  (Dense)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" y="2551176"/>
            <a:ext cx="2212848" cy="886968"/>
          </a:xfrm>
          <a:prstGeom prst="rect">
            <a:avLst/>
          </a:prstGeom>
          <a:solidFill>
            <a:srgbClr val="E0F3F8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333333"/>
                </a:solidFill>
              </a:rPr>
              <a:t>Encodes query &amp; chunks into
768-dim vectors.
ANN search via ChromaDB.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5496" y="2249424"/>
            <a:ext cx="2212848" cy="301752"/>
          </a:xfrm>
          <a:prstGeom prst="rect">
            <a:avLst/>
          </a:prstGeom>
          <a:solidFill>
            <a:srgbClr val="1E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BM25  (Sparse)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25496" y="2551176"/>
            <a:ext cx="2212848" cy="886968"/>
          </a:xfrm>
          <a:prstGeom prst="rect">
            <a:avLst/>
          </a:prstGeom>
          <a:solidFill>
            <a:srgbClr val="E0F4E8"/>
          </a:solidFill>
          <a:ln>
            <a:solidFill>
              <a:srgbClr val="1E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333333"/>
                </a:solidFill>
              </a:rPr>
              <a:t>TF-IDF keyword index.
No encoding needed.
Rebuilt in-memory per run.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27048" y="3438144"/>
            <a:ext cx="54864" cy="23774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04488" y="3438144"/>
            <a:ext cx="54864" cy="23774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675888"/>
            <a:ext cx="4846320" cy="301752"/>
          </a:xfrm>
          <a:prstGeom prst="rect">
            <a:avLst/>
          </a:prstGeom>
          <a:solidFill>
            <a:srgbClr val="D9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Reciprocal Rank Fusion  (RRF, k = 60)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977640"/>
            <a:ext cx="4846320" cy="502920"/>
          </a:xfrm>
          <a:prstGeom prst="rect">
            <a:avLst/>
          </a:prstGeom>
          <a:solidFill>
            <a:srgbClr val="FFF3E0"/>
          </a:solidFill>
          <a:ln>
            <a:solidFill>
              <a:srgbClr val="D9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333333"/>
                </a:solidFill>
              </a:rPr>
              <a:t>score(d) = Σ  1 / (60 + rank_i(d))
Merges both lists without learnable weights.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15768" y="4480560"/>
            <a:ext cx="54864" cy="23774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718304"/>
            <a:ext cx="484632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BGE-Reranker-v2-m3  (Cross-Encoder)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020056"/>
            <a:ext cx="4846320" cy="502920"/>
          </a:xfrm>
          <a:prstGeom prst="rect">
            <a:avLst/>
          </a:prstGeom>
          <a:solidFill>
            <a:srgbClr val="EBF3FA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333333"/>
                </a:solidFill>
              </a:rPr>
              <a:t>Reads (query, passage) jointly.
Scores all 40 candidates → returns top-5.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15768" y="5522976"/>
            <a:ext cx="54864" cy="23774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5760720"/>
            <a:ext cx="4846320" cy="301752"/>
          </a:xfrm>
          <a:prstGeom prst="rect">
            <a:avLst/>
          </a:prstGeom>
          <a:solidFill>
            <a:srgbClr val="4A2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OUTPUT  →  Top-5 passages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062472"/>
            <a:ext cx="4846320" cy="411480"/>
          </a:xfrm>
          <a:prstGeom prst="rect">
            <a:avLst/>
          </a:prstGeom>
          <a:solidFill>
            <a:srgbClr val="F0EAFF"/>
          </a:solidFill>
          <a:ln>
            <a:solidFill>
              <a:srgbClr val="4A2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333333"/>
                </a:solidFill>
              </a:rPr>
              <a:t>Grounding context for Gemini 2.5 Pro
(NLD generation — Step 4).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005840"/>
            <a:ext cx="6446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Model details &amp; design rationale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32120" y="1399032"/>
            <a:ext cx="1417320" cy="292608"/>
          </a:xfrm>
          <a:prstGeom prst="rect">
            <a:avLst/>
          </a:prstGeom>
          <a:solidFill>
            <a:srgbClr val="1A3A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1399032"/>
            <a:ext cx="1371600" cy="292608"/>
          </a:xfrm>
          <a:prstGeom prst="rect">
            <a:avLst/>
          </a:prstGeom>
          <a:solidFill>
            <a:srgbClr val="1A3A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1399032"/>
            <a:ext cx="3657600" cy="292608"/>
          </a:xfrm>
          <a:prstGeom prst="rect">
            <a:avLst/>
          </a:prstGeom>
          <a:solidFill>
            <a:srgbClr val="1A3A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chosen for this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691640"/>
            <a:ext cx="1417320" cy="1234440"/>
          </a:xfrm>
          <a:prstGeom prst="rect">
            <a:avLst/>
          </a:prstGeom>
          <a:solidFill>
            <a:srgbClr val="0D698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BGE-M3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1691640"/>
            <a:ext cx="1371600" cy="1234440"/>
          </a:xfrm>
          <a:prstGeom prst="rect">
            <a:avLst/>
          </a:prstGeom>
          <a:solidFill>
            <a:srgbClr val="E0F3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D6986"/>
                </a:solidFill>
              </a:rPr>
              <a:t>Dense encoder
(BiEncoder)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1691640"/>
            <a:ext cx="3657600" cy="1234440"/>
          </a:xfrm>
          <a:prstGeom prst="rect">
            <a:avLst/>
          </a:prstGeom>
          <a:solidFill>
            <a:srgbClr val="E0F3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333333"/>
                </a:solidFill>
              </a:rPr>
              <a:t>• BAAI/bge-m3 — multilingual, multi-granularity SOTA
• Handles rare technical vocab via subword tokenisation
• 768-dim vectors persisted in ChromaDB (computed once)
• Same model encodes both corpus chunks and query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2926080"/>
            <a:ext cx="1417320" cy="1234440"/>
          </a:xfrm>
          <a:prstGeom prst="rect">
            <a:avLst/>
          </a:prstGeom>
          <a:solidFill>
            <a:srgbClr val="1E6B3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BM25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2926080"/>
            <a:ext cx="1371600" cy="1234440"/>
          </a:xfrm>
          <a:prstGeom prst="rect">
            <a:avLst/>
          </a:prstGeom>
          <a:solidFill>
            <a:srgbClr val="E0F4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6B3A"/>
                </a:solidFill>
              </a:rPr>
              <a:t>Sparse keyword
retrieval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2926080"/>
            <a:ext cx="3657600" cy="1234440"/>
          </a:xfrm>
          <a:prstGeom prst="rect">
            <a:avLst/>
          </a:prstGeom>
          <a:solidFill>
            <a:srgbClr val="E0F4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333333"/>
                </a:solidFill>
              </a:rPr>
              <a:t>• Exact-match for domain jargon (e.g. 'coquina', 'spherulite')
• Complements dense: catches rare terms BGE-M3 may miss
• Zero GPU cost; fast O(n) over inverted index
• k₁=1.5, b=0.75  (Okapi BM25 standard defaults)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4160520"/>
            <a:ext cx="1417320" cy="1234440"/>
          </a:xfrm>
          <a:prstGeom prst="rect">
            <a:avLst/>
          </a:prstGeom>
          <a:solidFill>
            <a:srgbClr val="D96C1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RRF  (k=60)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4160520"/>
            <a:ext cx="1371600" cy="123444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Rank fusion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4160520"/>
            <a:ext cx="3657600" cy="123444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333333"/>
                </a:solidFill>
              </a:rPr>
              <a:t>• No trainable parameters — zero tuning, zero overfitting
• Outperforms linear score combination in low-data regimes
• k=60 dampens sensitivity to top-rank outliers
• Ref: Cormack et al. (2009) SIGIR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32120" y="5394960"/>
            <a:ext cx="1417320" cy="1234440"/>
          </a:xfrm>
          <a:prstGeom prst="rect">
            <a:avLst/>
          </a:prstGeom>
          <a:solidFill>
            <a:srgbClr val="1A3A5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BGE-Reranker
v2-m3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0" y="5394960"/>
            <a:ext cx="1371600" cy="1234440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3A5C"/>
                </a:solidFill>
              </a:rPr>
              <a:t>Cross-encoder
reranker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5394960"/>
            <a:ext cx="3657600" cy="1234440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333333"/>
                </a:solidFill>
              </a:rPr>
              <a:t>• Full attention over (query + passage) pair jointly
• Substantially higher precision than BiEncoder alone
• Applied only to the 40 fused candidates → returns top-5
• Latency trade-off acceptable: run once per term, batched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6473952"/>
            <a:ext cx="6446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Config:  chunk_size = 1024 chars  ·  chunk_overlap = 100  ·  k_dense = k_sparse = 20  ·  k_rerank = 5  ·  ChromaDB persisted to chroma_db_1024/  ·  BM25 rebuilt in-memory each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