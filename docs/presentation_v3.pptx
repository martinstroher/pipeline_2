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3" r:id="rId14"/>
    <p:sldId id="264" r:id="rId15"/>
    <p:sldId id="268" r:id="rId19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8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PreSaltOntoLearn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ACCEE"/>
                </a:solidFill>
              </a:rPr>
              <a:t>Automated Ontology Learning
for Brazilian Pre-Salt Petroleum Geology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ACC"/>
                </a:solidFill>
              </a:rPr>
              <a:t>Supervisor presentation  ·  PPGC / UFRGS  · 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A5C"/>
                </a:solidFill>
              </a:rPr>
              <a:t>Building a domain ontology by hand is a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</a:rPr>
              <a:t>▸  Read every paper to identify relevant terminology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Write precise Aristotelian definitions for each term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Classify each term into the correct upper ontology concept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Arrange terms into a parent-child taxonomy hierarchy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Export everything as a valid OWL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1148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Domain: Brazilian Pre-Salt
Carbonate Reservoirs
• Giant oil provinces (Santos, Campos basin)
• Complex lacustrine carbonates:
  coquina, microbial carbonate, spherulite
• Specialised vocabulary underrepresented
  in general LLM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6C10"/>
                </a:solidFill>
              </a:rPr>
              <a:t>⟹  A scalable, automated approach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Can LLMs + RAG automate ontology learning
for an underrepresented scientific domain?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Specific goals: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▸  Extract terminology from ~80 Pre-Salt geology papers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Generate NLDs grounded in the literature via RAG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Classify terms into BFO / GeoCore / GeoReservoir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Build and export a formal OWL taxonomy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Validate empirically via ablation study +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Central hypothesis: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560320"/>
            <a:ext cx="5212080" cy="32004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"RAG-grounded Aristotelian NLDs
provide better upper-ontology
classification than bare term strings."
Grounded in: Lopes Junior (2024)
Extends to: LLM-generated NLDs for
underrepresented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Theoretical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Lopes Junior (2024)  —  PhD thesis, PPGC/UFRGS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"Automatic Classification of Domain Entities into Top-Level Ontology Concepts Using Natural Language Definitions"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NLDs outperform all other representations
&gt;90% macro-F1 on BFO
across 110 ontologies, 12 domains
vs. term-alone, raw definition, example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Aristotelian form is key
"X is a Y that Z"
Genus (Y) = intermediate node name
Differentia (Z) = disambiguator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4464" y="2011680"/>
            <a:ext cx="3657600" cy="2743200"/>
          </a:xfrm>
          <a:prstGeom prst="rect">
            <a:avLst/>
          </a:prstGeom>
          <a:solidFill>
            <a:srgbClr val="FFF0E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D96C10"/>
                </a:solidFill>
              </a:rPr>
              <a:t>Our extension
Generate NLDs via RAG + LLM
(not pre-curated)
Validate on Pre-Salt geology
— new domain, new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6986"/>
                </a:solidFill>
              </a:rPr>
              <a:t>Ablation A vs C replicates Lopes Junior SC1 (NLD &gt; definiendum) on a new domain and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7-Step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0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PDF
Ingest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PDF → MD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218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371600"/>
            <a:ext cx="1188720" cy="146304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RAG
Index</a:t>
            </a:r>
          </a:p>
          <a:p>
            <a:pPr algn="ctr"/>
            <a:r>
              <a:rPr sz="900">
                <a:solidFill>
                  <a:srgbClr val="AACCEE"/>
                </a:solidFill>
              </a:rPr>
              <a:t>ChromaDB
+BM25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121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1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Term
Extract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LLM per
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966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2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Aggregate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Lemma
+count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67528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8112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3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Filter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≥3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5976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4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Define
(NLD)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RAG+LLM
 Aristotelian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5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Classify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Waterfall
TLO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287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6345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6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Taxonomy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Hierarchy
builder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7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OWL
Export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→ .ttl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986"/>
                </a:solidFill>
              </a:rPr>
              <a:t>⤵ provides retrieval context to Steps 4 &amp;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Final output:  output/7_ontology.ttl  (Protégé-compatible OWL/Turtle)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0: PDF papers → Markdown using pymupdf4llm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R: Chunk + embed all docs (BGE-M3 dense + BM25 sparse) → 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3542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1: LLM reads each doc and extracts geological terms (Gemini 2.5 Pro)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371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2: Lemmatise + count occurrences across the corpus (spaCy)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3: Keep terms appearing in ≥3 papers (3.75% corpus consensus)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4: Retrieve top-5 passages + generate Aristotelian NLD per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42431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5: Classify term+NLD → GeoReservoir / GeoCore / BFO (waterfall)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44183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6: LLM builds parent-child hierarchy per group using NLD genera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7: rdflib → OWL Turtle with rdfs:subClassOf and rdfs:comment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Upper Ontology Stack — Waterfall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508760"/>
          </a:xfrm>
          <a:prstGeom prst="rect">
            <a:avLst/>
          </a:prstGeom>
          <a:solidFill>
            <a:srgbClr val="E8F4FF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BFO — Basic Formal Ontology
Foundational universals shared across all scientific domains
Examples:  process · quality · material entity · continuant · occurrent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0515600" cy="1508760"/>
          </a:xfrm>
          <a:prstGeom prst="rect">
            <a:avLst/>
          </a:prstGeom>
          <a:solidFill>
            <a:srgbClr val="D4EDD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55A2A"/>
                </a:solidFill>
              </a:rPr>
              <a:t>GeoCore — General Geoscience
Generic geological concepts applicable across all geoscience subdomains
Examples:  Geological Structure · Sedimentary Rock · Diagenetic Process · Rock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34840"/>
            <a:ext cx="9784080" cy="15087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GeoReservoir — Petroleum Geology
Petroleum-geology-specific concepts (checked first — highest priority)
Examples:  Porosity Type · Reservoir Seal · Hydrocarbon Column · Cap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986"/>
                </a:solidFill>
              </a:rPr>
              <a:t>Priority: GeoReservoir  ▸  GeoCore  ▸  BFO  ▸  NOT_CLASSIFIED
Each term is mapped to the most domain-specific applicable namespace.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Natural Language Definitions (NLDs)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Aristotelian NLDs?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Explicit genus (Y): used as intermediate node name in taxonomy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Differentia (Z): resolves polysemy without additional context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Proven: &gt;90% macro-F1 on BFO (Lopes Junior 2024)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Consistent structure across all terms at temp=0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Example NLD (Step 4 output):
"Dolomitization is a diagenetic process
that replaces original calcium carbonate
minerals with dolomite through the
substitution of Ca²⁺ by Mg²⁺ ions from
Mg-rich fluids, commonly enhancing
reservoir porosity and permeability."
Genus:  diagenetic process
→ intermediate node in Step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Retrieval-Augmented Generation (RAG)?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Pre-Salt geology is underrepresented in LLM training data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RAG retrieves passages from the actual corpus literature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Grounds definitions in peer-reviewed sources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Prevents hallucination of domain-specific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Hybrid retrieval for each term:
1. BGE-M3 dense embeddings (ChromaDB, k=20)
2. BM25 keyword search (k=20)
3. Reciprocal Rank Fusion (RRF)
4. BGE-Reranker cross-encoder → top-5
Chunk size: 1024 characters
Chunk overlap: 100 characters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Architecture — Hybrid 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846320" cy="301752"/>
          </a:xfrm>
          <a:prstGeom prst="rect">
            <a:avLst/>
          </a:prstGeom>
          <a:solidFill>
            <a:srgbClr val="4A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07592"/>
            <a:ext cx="4846320" cy="448056"/>
          </a:xfrm>
          <a:prstGeom prst="rect">
            <a:avLst/>
          </a:prstGeom>
          <a:solidFill>
            <a:srgbClr val="F0EAFF"/>
          </a:solidFill>
          <a:ln>
            <a:solidFill>
              <a:srgbClr val="4A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333333"/>
                </a:solidFill>
              </a:rPr>
              <a:t>Term name  (e.g. "Dolomitization")
from Step 3 filtered term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755648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93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986"/>
                </a:solidFill>
              </a:rPr>
              <a:t>── Parallel retrieval  (k = 20 each) ──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249424"/>
            <a:ext cx="2212848" cy="301752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BGE-M3  (Dense)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2551176"/>
            <a:ext cx="2212848" cy="886968"/>
          </a:xfrm>
          <a:prstGeom prst="rect">
            <a:avLst/>
          </a:prstGeom>
          <a:solidFill>
            <a:srgbClr val="E0F3F8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Encodes query &amp; chunks into
768-dim vectors.
ANN search via ChromaDB.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5496" y="2249424"/>
            <a:ext cx="2212848" cy="301752"/>
          </a:xfrm>
          <a:prstGeom prst="rect">
            <a:avLst/>
          </a:prstGeom>
          <a:solidFill>
            <a:srgbClr val="1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BM25  (Sparse)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2551176"/>
            <a:ext cx="2212848" cy="886968"/>
          </a:xfrm>
          <a:prstGeom prst="rect">
            <a:avLst/>
          </a:prstGeom>
          <a:solidFill>
            <a:srgbClr val="E0F4E8"/>
          </a:solidFill>
          <a:ln>
            <a:solidFill>
              <a:srgbClr val="1E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TF-IDF keyword index.
No encoding needed.
Rebuilt in-memory per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7048" y="3438144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04488" y="3438144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675888"/>
            <a:ext cx="4846320" cy="301752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Reciprocal Rank Fusion  (RRF, k = 60)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40"/>
            <a:ext cx="4846320" cy="502920"/>
          </a:xfrm>
          <a:prstGeom prst="rect">
            <a:avLst/>
          </a:prstGeom>
          <a:solidFill>
            <a:srgbClr val="FFF3E0"/>
          </a:solidFill>
          <a:ln>
            <a:solidFill>
              <a:srgbClr val="D9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score(d) = Σ  1 / (60 + rank_i(d))
Merges both lists without learnable weights.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4480560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718304"/>
            <a:ext cx="484632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BGE-Reranker-v2-m3  (Cross-Encoder)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0056"/>
            <a:ext cx="4846320" cy="502920"/>
          </a:xfrm>
          <a:prstGeom prst="rect">
            <a:avLst/>
          </a:prstGeom>
          <a:solidFill>
            <a:srgbClr val="EBF3FA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Reads (query, passage) jointly.
Scores all 40 candidates → returns top-5.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8" y="5522976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760720"/>
            <a:ext cx="4846320" cy="301752"/>
          </a:xfrm>
          <a:prstGeom prst="rect">
            <a:avLst/>
          </a:prstGeom>
          <a:solidFill>
            <a:srgbClr val="4A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 →  Top-5 passages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62472"/>
            <a:ext cx="4846320" cy="411480"/>
          </a:xfrm>
          <a:prstGeom prst="rect">
            <a:avLst/>
          </a:prstGeom>
          <a:solidFill>
            <a:srgbClr val="F0EAFF"/>
          </a:solidFill>
          <a:ln>
            <a:solidFill>
              <a:srgbClr val="4A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333333"/>
                </a:solidFill>
              </a:rPr>
              <a:t>Grounding context for Gemini 2.5 Pro
(NLD generation — Step 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00584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Model details &amp; design rationale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1399032"/>
            <a:ext cx="141732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399032"/>
            <a:ext cx="137160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399032"/>
            <a:ext cx="365760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chosen for this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691640"/>
            <a:ext cx="1417320" cy="1234440"/>
          </a:xfrm>
          <a:prstGeom prst="rect">
            <a:avLst/>
          </a:prstGeom>
          <a:solidFill>
            <a:srgbClr val="0D698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BGE-M3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1691640"/>
            <a:ext cx="1371600" cy="1234440"/>
          </a:xfrm>
          <a:prstGeom prst="rect">
            <a:avLst/>
          </a:prstGeom>
          <a:solidFill>
            <a:srgbClr val="E0F3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6986"/>
                </a:solidFill>
              </a:rPr>
              <a:t>Dense encoder
(BiEncoder)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91640"/>
            <a:ext cx="3657600" cy="1234440"/>
          </a:xfrm>
          <a:prstGeom prst="rect">
            <a:avLst/>
          </a:prstGeom>
          <a:solidFill>
            <a:srgbClr val="E0F3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BAAI/bge-m3 — multilingual, multi-granularity SOTA
• Handles rare technical vocab via subword tokenisation
• 768-dim vectors persisted in ChromaDB (computed once)
• Same model encodes both corpus chunks and query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926080"/>
            <a:ext cx="1417320" cy="1234440"/>
          </a:xfrm>
          <a:prstGeom prst="rect">
            <a:avLst/>
          </a:prstGeom>
          <a:solidFill>
            <a:srgbClr val="1E6B3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BM25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926080"/>
            <a:ext cx="1371600" cy="1234440"/>
          </a:xfrm>
          <a:prstGeom prst="rect">
            <a:avLst/>
          </a:prstGeom>
          <a:solidFill>
            <a:srgbClr val="E0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6B3A"/>
                </a:solidFill>
              </a:rPr>
              <a:t>Sparse keyword
retrieval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926080"/>
            <a:ext cx="3657600" cy="1234440"/>
          </a:xfrm>
          <a:prstGeom prst="rect">
            <a:avLst/>
          </a:prstGeom>
          <a:solidFill>
            <a:srgbClr val="E0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Exact-match for domain jargon (e.g. 'coquina', 'spherulite')
• Complements dense: catches rare terms BGE-M3 may miss
• Zero GPU cost; fast O(n) over inverted index
• k₁=1.5, b=0.75  (Okapi BM25 standard defaults)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160520"/>
            <a:ext cx="1417320" cy="1234440"/>
          </a:xfrm>
          <a:prstGeom prst="rect">
            <a:avLst/>
          </a:prstGeom>
          <a:solidFill>
            <a:srgbClr val="D96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RRF  (k=60)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160520"/>
            <a:ext cx="1371600" cy="123444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Rank 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160520"/>
            <a:ext cx="3657600" cy="123444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No trainable parameters — zero tuning, zero overfitting
• Outperforms linear score combination in low-data regimes
• k=60 dampens sensitivity to top-rank outliers
• Ref: Cormack et al. (2009) SIGIR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5394960"/>
            <a:ext cx="1417320" cy="1234440"/>
          </a:xfrm>
          <a:prstGeom prst="rect">
            <a:avLst/>
          </a:prstGeom>
          <a:solidFill>
            <a:srgbClr val="1A3A5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BGE-Reranker
v2-m3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5394960"/>
            <a:ext cx="1371600" cy="1234440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</a:rPr>
              <a:t>Cross-encoder
reranker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394960"/>
            <a:ext cx="3657600" cy="1234440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Full attention over (query + passage) pair jointly
• Substantially higher precision than BiEncoder alone
• Applied only to the 40 fused candidates → returns top-5
• Latency trade-off acceptable: run once per term, batched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6473952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Config:  chunk_size = 1024 chars  ·  chunk_overlap = 100  ·  k_dense = k_sparse = 20  ·  k_rerank = 5  ·  ChromaDB persisted to chroma_db_1024/  ·  BM25 rebuilt in-memory each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Ablation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Same set of filtered terms — 4 conditions vary Steps 4-5 only: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63040"/>
            <a:ext cx="512064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11480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Comparison reveals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 —  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975104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RAG retrieval + Aristotelian NLD +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975104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  —  No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487168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NLD generated from LLM knowledge only (no retrieval)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487168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B  →  RAG contribution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  —  No NLD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99232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Classification from bare term string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999232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C  →  NLD contribution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D  —  Raw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511296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Raw retrieved passages as context (no structured NLD)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511296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D  →  NLD structuring benefit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A vs C  directly replicates  Lopes Junior (2024) Study Case 1:
"NLD &gt; definiendum (term-alone) for top-level ontology classification"
— now tested on a new domain (Pre-Salt geology) and new architecture (RAG-augmented LLM)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Steps 6-7 (taxonomy + OWL) run on the winning condition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Conditions C and D include Condition A terms for direct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1 — Automated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Cross-condition agreement matrices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Cochran's Q significance test (4 conditions)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migration analysis (A→B, A→C, A→D)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NOT_CLASSIFIED rate per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Context_Used ratio (Steps 4A vs 4B)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0D698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2 —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Term relevance  (Is this term important?)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NLD quality  (A vs B, blinded — which is more precise?)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correctness  (Is the assigned category right?)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Statistics: Wilcoxon signed-rank, Friedman,
  ICC, Fleiss'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Workflow: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Run ablation (–-ablation)  →  Layer 1 analysis (--analysis)  →  Generate expert workbook (--expert-eval)  →  Expert review  →  Layer 2 analysis (--layer2-analysis)  →  Select winning condition  →  Taxonomy + OWL (--taxonomy / --owl)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E7E34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✔ 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Full pipeline implemented (Steps 0-7)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E2E automated test passing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All LLM prompts finalized (pre-ablation hardening)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Ablation study runner with checkpointing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Layer 1 &amp; Layer 2 analysis code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evaluation spreadsheet generator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OWL format validated in Protégé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Documentation updated (README, CONTEXT, OVERVIEW)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D96C1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▶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Expand corpus: 40 → 80 papers (in progress)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Re-run extraction (Steps 1-3) on full corpus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4-condition ablation study on full term set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Layer 1 automated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Select top ~100 terms for expert evaluation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review + Layer 2 statistical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Build final taxonomy + OWL on winning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Thesis write-up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Thesis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RAG-grounded NLD generation for underrepresented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First pipeline to auto-generate Aristotelian NLDs from literature
and use them for upper-ontology classification — filling the gap
between Lopes Junior (2024) and real-world ontology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Empirical ablation on a new domain +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4-condition study (Full / NoRAG / NoNLD / RawRAG) replicates
Lopes Junior SC1, validating both NLD and RAG contributions
on Brazilian Pre-Salt geology.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 automated pipeline from PDFs to OWL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Reproducible, configurable pipeline — PDF ingest through
Protégé-ready OWL Turtle export — with two-layer evaluation
framework for thesis-quality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CC"/>
                </a:solidFill>
              </a:rPr>
              <a:t>Lopes Junior, A.G. (2024). Automatic Classification of Domain Entities into Top-Level Ontology Concepts Using Natural Language Definitions. PhD thesis, PPGC/UFRGS.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Layer 1 — Automated Analysis: What Each Statistic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42062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All 4 ablation conditions run on the same term set.  These 5 metrics together answer: Do conditions produce meaningfully different results — and if so, where and 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" y="1353312"/>
            <a:ext cx="3822191" cy="365760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📊  Agreement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719072"/>
            <a:ext cx="3822191" cy="2212848"/>
          </a:xfrm>
          <a:prstGeom prst="rect">
            <a:avLst/>
          </a:prstGeom>
          <a:solidFill>
            <a:srgbClr val="F8F8F8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" y="1810512"/>
            <a:ext cx="3639311" cy="182880"/>
          </a:xfrm>
          <a:prstGeom prst="rect">
            <a:avLst/>
          </a:prstGeom>
          <a:solidFill>
            <a:srgbClr val="C5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6986"/>
                </a:solidFill>
              </a:rPr>
              <a:t>  WHAT IT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" y="1993392"/>
            <a:ext cx="363931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For each pair of conditions, counts what % of terms received the same category assignment (A-B, A-C, A-D).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" y="2523744"/>
            <a:ext cx="3639311" cy="182880"/>
          </a:xfrm>
          <a:prstGeom prst="rect">
            <a:avLst/>
          </a:prstGeom>
          <a:solidFill>
            <a:srgbClr val="C5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6986"/>
                </a:solidFill>
              </a:rPr>
              <a:t>  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" y="2706624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Like two doctors diagnosing the same 100 patients. 80% agreement means they disagreed on 20 cases.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" y="3374136"/>
            <a:ext cx="3639311" cy="182880"/>
          </a:xfrm>
          <a:prstGeom prst="rect">
            <a:avLst/>
          </a:prstGeom>
          <a:solidFill>
            <a:srgbClr val="C5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6986"/>
                </a:solidFill>
              </a:rPr>
              <a:t>  WHAT TO LOOK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" y="3557016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Lower A-vs-C = NLDs change many assignments (strong NLD effect). All pairs &gt;95% = conditions too similar to be informative.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59" y="1353312"/>
            <a:ext cx="3822191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🔬  Cochran's Q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59" y="1719072"/>
            <a:ext cx="3822191" cy="2212848"/>
          </a:xfrm>
          <a:prstGeom prst="rect">
            <a:avLst/>
          </a:prstGeom>
          <a:solidFill>
            <a:srgbClr val="F8F8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9" y="1810512"/>
            <a:ext cx="3639311" cy="182880"/>
          </a:xfrm>
          <a:prstGeom prst="rect">
            <a:avLst/>
          </a:prstGeom>
          <a:solidFill>
            <a:srgbClr val="AAB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3A5C"/>
                </a:solidFill>
              </a:rPr>
              <a:t>  WHAT IT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1993392"/>
            <a:ext cx="363931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 significance test: are the differences between the 4 conditions larger than what random chance alone would produce?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9" y="2523744"/>
            <a:ext cx="3639311" cy="182880"/>
          </a:xfrm>
          <a:prstGeom prst="rect">
            <a:avLst/>
          </a:prstGeom>
          <a:solidFill>
            <a:srgbClr val="AAB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3A5C"/>
                </a:solidFill>
              </a:rPr>
              <a:t>  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9" y="2706624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Like noticing one coin always lands heads 70% while the others land 50%. Cochran's Q asks: is that gap real, or just luck?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9" y="3374136"/>
            <a:ext cx="3639311" cy="182880"/>
          </a:xfrm>
          <a:prstGeom prst="rect">
            <a:avLst/>
          </a:prstGeom>
          <a:solidFill>
            <a:srgbClr val="AAB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3A5C"/>
                </a:solidFill>
              </a:rPr>
              <a:t>  WHAT TO LOOK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9" y="3557016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 &lt; 0.05 = conditions produce genuinely different results. p &gt; 0.05 = differences could be random — not enough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6134" y="1353312"/>
            <a:ext cx="3822191" cy="365760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🔄  Category 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4" y="1719072"/>
            <a:ext cx="3822191" cy="2212848"/>
          </a:xfrm>
          <a:prstGeom prst="rect">
            <a:avLst/>
          </a:prstGeom>
          <a:solidFill>
            <a:srgbClr val="F8F8F8"/>
          </a:solidFill>
          <a:ln>
            <a:solidFill>
              <a:srgbClr val="D9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4" y="1810512"/>
            <a:ext cx="3639311" cy="182880"/>
          </a:xfrm>
          <a:prstGeom prst="rect">
            <a:avLst/>
          </a:prstGeom>
          <a:solidFill>
            <a:srgbClr val="F9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D96C10"/>
                </a:solidFill>
              </a:rPr>
              <a:t>  WHAT IT 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4" y="1993392"/>
            <a:ext cx="363931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For each term that changed category vs A, records the from/to pair — e.g. 'GeoCore:Rock' in A becomes 'NOT_CLASSIFIED' in 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4" y="2523744"/>
            <a:ext cx="3639311" cy="182880"/>
          </a:xfrm>
          <a:prstGeom prst="rect">
            <a:avLst/>
          </a:prstGeom>
          <a:solidFill>
            <a:srgbClr val="F9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D96C10"/>
                </a:solidFill>
              </a:rPr>
              <a:t>  PLAIN ENGLISH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4" y="2706624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Like tracking which ward patients moved to when the diagnosis protocol changed. Shows exactly where NLD or RAG makes a difference.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4" y="3374136"/>
            <a:ext cx="3639311" cy="182880"/>
          </a:xfrm>
          <a:prstGeom prst="rect">
            <a:avLst/>
          </a:prstGeom>
          <a:solidFill>
            <a:srgbClr val="F9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D96C10"/>
                </a:solidFill>
              </a:rPr>
              <a:t>  WHAT TO LOOK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4" y="3557016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High migration into NOT_CLASSIFIED in C = those concepts require NLDs to be recognised. Expect geological process terms most affected.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21993" y="4023360"/>
            <a:ext cx="3822191" cy="365760"/>
          </a:xfrm>
          <a:prstGeom prst="rect">
            <a:avLst/>
          </a:prstGeom>
          <a:solidFill>
            <a:srgbClr val="1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🚫  NOT_CLASSIFIED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1993" y="4389120"/>
            <a:ext cx="3822191" cy="2212848"/>
          </a:xfrm>
          <a:prstGeom prst="rect">
            <a:avLst/>
          </a:prstGeom>
          <a:solidFill>
            <a:srgbClr val="F8F8F8"/>
          </a:solidFill>
          <a:ln>
            <a:solidFill>
              <a:srgbClr val="1E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13433" y="4480560"/>
            <a:ext cx="3639311" cy="182880"/>
          </a:xfrm>
          <a:prstGeom prst="rect">
            <a:avLst/>
          </a:prstGeom>
          <a:solidFill>
            <a:srgbClr val="AE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6B3A"/>
                </a:solidFill>
              </a:rPr>
              <a:t>  WHAT IT MEASURES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3" y="4663440"/>
            <a:ext cx="363931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What % of terms could not be placed in any category (GeoReservoir, GeoCore, or BFO) per condition.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3" y="5193792"/>
            <a:ext cx="3639311" cy="182880"/>
          </a:xfrm>
          <a:prstGeom prst="rect">
            <a:avLst/>
          </a:prstGeom>
          <a:solidFill>
            <a:srgbClr val="AE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6B3A"/>
                </a:solidFill>
              </a:rPr>
              <a:t>  PLAIN ENGLISH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13433" y="5376672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A NOT_CLASSIFIED term is one where the model says 'I do not know where this belongs.' More information (NLD, RAG) should lower this.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13433" y="6044184"/>
            <a:ext cx="3639311" cy="182880"/>
          </a:xfrm>
          <a:prstGeom prst="rect">
            <a:avLst/>
          </a:prstGeom>
          <a:solidFill>
            <a:srgbClr val="AE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6B3A"/>
                </a:solidFill>
              </a:rPr>
              <a:t>  WHAT TO LOOK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3433" y="6227064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 should have the lowest rate. A much higher rate in C (no NLD) is direct evidence that definitions help classification.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4023360"/>
            <a:ext cx="3822191" cy="365760"/>
          </a:xfrm>
          <a:prstGeom prst="rect">
            <a:avLst/>
          </a:prstGeom>
          <a:solidFill>
            <a:srgbClr val="4A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  💬  Context_Used Ratio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4768" y="4389120"/>
            <a:ext cx="3822191" cy="2212848"/>
          </a:xfrm>
          <a:prstGeom prst="rect">
            <a:avLst/>
          </a:prstGeom>
          <a:solidFill>
            <a:srgbClr val="F8F8F8"/>
          </a:solidFill>
          <a:ln>
            <a:solidFill>
              <a:srgbClr val="4A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4480560"/>
            <a:ext cx="3639311" cy="182880"/>
          </a:xfrm>
          <a:prstGeom prst="rect">
            <a:avLst/>
          </a:prstGeom>
          <a:solidFill>
            <a:srgbClr val="CAB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4A2D7A"/>
                </a:solidFill>
              </a:rPr>
              <a:t>  WHAT IT MEASURES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663440"/>
            <a:ext cx="363931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 Step 4 (NLD generation), the LLM self-reports whether the retrieved passages actually influenced the definition it wrote.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5193792"/>
            <a:ext cx="3639311" cy="182880"/>
          </a:xfrm>
          <a:prstGeom prst="rect">
            <a:avLst/>
          </a:prstGeom>
          <a:solidFill>
            <a:srgbClr val="CAB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4A2D7A"/>
                </a:solidFill>
              </a:rPr>
              <a:t>  PLAIN ENGLISH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376672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Like asking a researcher: 'Did you use the papers I gave you, or write entirely from memory?' — recorded for every term.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8" y="6044184"/>
            <a:ext cx="3639311" cy="182880"/>
          </a:xfrm>
          <a:prstGeom prst="rect">
            <a:avLst/>
          </a:prstGeom>
          <a:solidFill>
            <a:srgbClr val="CAB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4A2D7A"/>
                </a:solidFill>
              </a:rPr>
              <a:t>  WHAT TO LOOK FOR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6227064"/>
            <a:ext cx="36393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High % in A = RAG grounds the definitions in the literature. Very low % = retrieved passages are being ignored.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Results written to output/ablation/   Run with:  python pipeline.py --analysis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