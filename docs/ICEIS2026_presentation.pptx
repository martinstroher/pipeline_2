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88952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81728"/>
            <a:ext cx="12188952" cy="2176272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3659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LLM-Driven Ontology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2316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6E4F7"/>
                </a:solidFill>
                <a:latin typeface="Calibri"/>
              </a:rPr>
              <a:t>From Term Extraction to Upper-Level Categorization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7180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E4F7"/>
                </a:solidFill>
                <a:latin typeface="Calibri"/>
              </a:rPr>
              <a:t>for Building Information System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Martin Ströher  ·  Thaís Schäfer Luiz  ·  Eduardo Roemers-Oliveira  ·  Lucas Valadares Vieira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5196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Fábio Herbert Jones  ·  Luiz Fernando De Ros  ·  Mara 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80060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7"/>
                </a:solidFill>
                <a:latin typeface="Calibri"/>
              </a:rPr>
              <a:t>UFRGS  ·  UFRJ  ·  Petrobras Research Center  ·  Colorado State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0350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Calibri"/>
              </a:rPr>
              <a:t>ICEIS 2026  —  International Conference on Enterprise Information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Context: The Knowledge Acquisition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  <a:latin typeface="Calibri"/>
              </a:rPr>
              <a:t>Why building domain ontologies remains painfully slow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4358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Ontologies power Knowledge-Intensive Information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46504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>
                <a:solidFill>
                  <a:srgbClr val="1A1A2E"/>
                </a:solidFill>
                <a:latin typeface="Calibri"/>
              </a:rPr>
              <a:t>Formal backbone for data models, software applications, retrieval systems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>
                <a:solidFill>
                  <a:srgbClr val="1A1A2E"/>
                </a:solidFill>
                <a:latin typeface="Calibri"/>
              </a:rPr>
              <a:t>Enterprise ontology projects rely on specialized vocabulary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>
                <a:solidFill>
                  <a:srgbClr val="1A1A2E"/>
                </a:solidFill>
                <a:latin typeface="Calibri"/>
              </a:rPr>
              <a:t>Vocabulary must be mapped to formal upper-level hierarchies</a:t>
            </a:r>
          </a:p>
          <a:p>
            <a:pPr lvl="1" marL="457200" indent="-182880">
              <a:spcBef>
                <a:spcPts val="100"/>
              </a:spcBef>
              <a:spcAft>
                <a:spcPts val="100"/>
              </a:spcAft>
              <a:buChar char="–"/>
            </a:pPr>
            <a:r>
              <a:rPr sz="1350" b="0">
                <a:solidFill>
                  <a:srgbClr val="1A1A2E"/>
                </a:solidFill>
                <a:latin typeface="Calibri"/>
              </a:rPr>
              <a:t>BFO  →  GeoCore  →  Domain ontology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6382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NeOn Methodology identifies two bottleneck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575304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>
                <a:solidFill>
                  <a:srgbClr val="1A1A2E"/>
                </a:solidFill>
                <a:latin typeface="Calibri"/>
              </a:rPr>
              <a:t>Non-Ontological Resource Reuse  — selecting terminology sources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500" b="0">
                <a:solidFill>
                  <a:srgbClr val="1A1A2E"/>
                </a:solidFill>
                <a:latin typeface="Calibri"/>
              </a:rPr>
              <a:t>Conceptualization  — clarifying and formalizing semantics</a:t>
            </a:r>
          </a:p>
          <a:p>
            <a:pPr lvl="1" marL="457200" indent="-182880">
              <a:spcBef>
                <a:spcPts val="100"/>
              </a:spcBef>
              <a:spcAft>
                <a:spcPts val="100"/>
              </a:spcAft>
              <a:buChar char="–"/>
            </a:pPr>
            <a:r>
              <a:rPr sz="1350" b="0">
                <a:solidFill>
                  <a:srgbClr val="1A1A2E"/>
                </a:solidFill>
                <a:latin typeface="Calibri"/>
              </a:rPr>
              <a:t>Both require highly specialized experts for extended sessions</a:t>
            </a:r>
          </a:p>
          <a:p>
            <a:pPr lvl="1" marL="457200" indent="-182880">
              <a:spcBef>
                <a:spcPts val="100"/>
              </a:spcBef>
              <a:spcAft>
                <a:spcPts val="100"/>
              </a:spcAft>
              <a:buChar char="–"/>
            </a:pPr>
            <a:r>
              <a:rPr sz="1350" b="0">
                <a:solidFill>
                  <a:srgbClr val="1A1A2E"/>
                </a:solidFill>
                <a:latin typeface="Calibri"/>
              </a:rPr>
              <a:t>Cannot keep pace with the exponential growth of unstructured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1152144"/>
            <a:ext cx="5056632" cy="4389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335024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Existing approaches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746504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Statistical (TF-IDF): fast but semantically weak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Embedding models (BERT): better, but require labeled data + fine-tuning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Fine-tuned LLMs: shifts the bottleneck, not removes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3300984"/>
            <a:ext cx="48737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438144"/>
            <a:ext cx="4873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Our path: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49624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Apply a general-purpose LLM without any domain-specific fine-tuning — more accessible, more generalizable.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Research Question &amp; Core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43584"/>
            <a:ext cx="11365992" cy="14630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43584"/>
            <a:ext cx="73152" cy="1463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0744"/>
            <a:ext cx="110002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Can a non-specialist LLM produce semantically precise ontological artifacts — term extraction and taxonomic categorization into formal hierarchies — to bootstrap ontology construction, without fine-tuning?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35224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Key Insight — Lopes Junior (2025)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392424"/>
            <a:ext cx="35204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392424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29584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Language models classifying domain entities into top-level ontology concepts using Natural Language Definitions (NLDs) achieve &gt;90% macro F1-score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392424"/>
            <a:ext cx="35204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3392424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529584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NLDs are the most effective textual representation for ontological classification, even across multilingual settings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392424"/>
            <a:ext cx="35204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392424"/>
            <a:ext cx="35204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529584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No prior work had leveraged this NLD insight for corpus-grounded extraction and formal hierarchy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Methodology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  <a:latin typeface="Calibri"/>
              </a:rPr>
              <a:t>4 phases — applied to 40 curated Brazilian Pre-Salt scientific articles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" y="1335024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788" y="1335024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" y="1426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" y="1746504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Corpus
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" y="2615184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40 peer-reviewed Pre-Salt articles
Curated by senior domain specialist
Automatic text extraction (pdftotext)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7540" y="311810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6140" y="1335024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6140" y="1335024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6140" y="1426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7580" y="1746504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Term Acquisition
(4 Pipelines)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615184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LLM + Corpus (extractive)
LLM Generated (zero-shot)
NER + Corpus (hybrid)
TF-IDF (baseline)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3892" y="311810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2492" y="1335024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2492" y="1335024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1426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3932" y="1746504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NLD-Centric
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2220" y="2615184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LLM generates Aristotelian NLD
Chain-of-Thought categorization
BFO → GeoCore → GeoReservoir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0244" y="311810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8844" y="1335024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8844" y="1335024"/>
            <a:ext cx="256032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8844" y="1426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0284" y="1746504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Specialist
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8572" y="2615184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 domain experts (PhD + MSc)
Term Relevance, NLD Accuracy,
Category 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172200"/>
            <a:ext cx="11365992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21792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  <a:latin typeface="Calibri"/>
              </a:rPr>
              <a:t>Model: Gemini 2.5 Pro  ·  Temperature = 0 (deterministic)  ·  Ontology stack: BFO → GeoCore → GeoReservoir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2: The Four Term Extraction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43584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43584"/>
            <a:ext cx="53492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P1 — LLM +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92224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Extractive mode: LLM reads each of the 40 articles and extracts all relevant geological terms directly from the text.
Stemming + normalization applied for aggregation.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243584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243584"/>
            <a:ext cx="53492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5331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P2 — LLM 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92224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Zero-shot, corpus-agnostic: LLM generates the 500 most important domain terms from its pre-trained knowledge alone.
Temperature = 0.2 for slight lexical variance.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803904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803904"/>
            <a:ext cx="5349240" cy="64008"/>
          </a:xfrm>
          <a:prstGeom prst="rect">
            <a:avLst/>
          </a:prstGeom>
          <a:solidFill>
            <a:srgbClr val="5B2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1363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C8D"/>
                </a:solidFill>
                <a:latin typeface="Calibri"/>
              </a:rPr>
              <a:t>P3 — NER +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52544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Hybrid / cross-lingual: XLM-RoBERTa Large fine-tuned on PetroGeoNER corpus extracts terms + NER labels.
Tests specialized NER model against general LLM.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803904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3803904"/>
            <a:ext cx="5349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91363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P4 — TF-IDF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52544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Statistical baseline: Term Frequency–Inverse Document Frequency on the 40-article corpus.
Replicates traditional frequency-based methodology (Garcia et al., 2020).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26364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All 4 pipelines feed into the same unified NLD-centric classification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3: NLD-Centric Classification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  <a:latin typeface="Calibri"/>
              </a:rPr>
              <a:t>Standardized across all pipelines — explicitly tests Lopes Junior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" y="1335024"/>
            <a:ext cx="329184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" y="1335024"/>
            <a:ext cx="32918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" y="14721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Step 1 — NLD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" y="1975104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LLM role: "Senior geoscientist + ontology engineer"
Aristotelian-style definition for each term:
"X is a Y that Z"
Concise, technically clear, canonical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1084" y="2889504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8556" y="1335024"/>
            <a:ext cx="329184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8556" y="1335024"/>
            <a:ext cx="32918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5716" y="14721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Step 2 — CoT Categorization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5716" y="1975104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Chain-of-Thought prompt: LLM analyzes
term + NLD together
Assigns most specific category possible
Fallback hierarchy:
GeoReservoir  →  GeoCore  →  BFO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4404" y="2889504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1876" y="1335024"/>
            <a:ext cx="329184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1876" y="1335024"/>
            <a:ext cx="32918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9036" y="14721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Resulting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036" y="1975104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Formally instantiated into
multi-layered hierarchy:
BFO → GeoCore → GeoReservoir
Expert-validated taxonomy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084064"/>
            <a:ext cx="11365992" cy="8229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5084064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75504"/>
            <a:ext cx="11000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F3864"/>
                </a:solidFill>
                <a:latin typeface="Calibri"/>
              </a:rPr>
              <a:t>Why NLDs?   Lopes Junior (2025) shows NLDs outperform term-only, definition+term, and all other textual representations for top-level classification — achieving &gt;90% macro F1 across multiple ontologies, domains, and languages.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4: Blind Multi-Expert Validation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43584"/>
            <a:ext cx="457200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43584"/>
            <a:ext cx="73152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5 Domain Specialists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PhD &amp; MSc holders — up to 20 years experience
Industry + Academia (Brazilian Pre-Salt)
Provided 100 reference terms before extraction (20 each)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243584"/>
            <a:ext cx="658368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0" y="1243584"/>
            <a:ext cx="73152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335024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Sampling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719072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100 top-ranked terms/pipeline × 4 pipelines = 400 entries
Combined, anonymized, and randomized into a single list
Blind: evaluators did not know which pipeline produced each term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63824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163824"/>
            <a:ext cx="35204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8269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Term 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6674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5 experts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86784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Relevant / Irrelevant / Invalid / Unknown
Same specialists who provided reference terms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3163824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3163824"/>
            <a:ext cx="35204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328269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NLD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366674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986784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Correct / Partially Correct / Incorrect
Ambiguous / Wrong Context / Unknown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64424" y="3163824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64424" y="3163824"/>
            <a:ext cx="35204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1584" y="328269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Category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4" y="366674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3986784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Correct &amp; Specific / Correct but Unspecific
Incorrect / Unknown
Captures both accuracy and ontological depth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— Term Coverage &amp;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35024"/>
            <a:ext cx="219456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335024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3716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335024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8" y="13716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Relevant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335024"/>
            <a:ext cx="155448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13716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Irrelevant 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335024"/>
            <a:ext cx="21031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Strictly Relevant
(Consensus)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92224"/>
            <a:ext cx="219456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883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+ Corpus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792224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18836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792224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18836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97.8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1792224"/>
            <a:ext cx="155448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18836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  <a:latin typeface="Calibri"/>
              </a:rPr>
              <a:t>2.0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1792224"/>
            <a:ext cx="21031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18836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91 / 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249424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3408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Generated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2249424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0048" y="23408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2249424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87368" y="23408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96.2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249424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4688" y="23408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2249424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9168" y="23408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88 / 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706624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27980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NER + Corpus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2706624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0048" y="27980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2706624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87368" y="27980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86.6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80" y="2706624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04688" y="27980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11.8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2706624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59168" y="27980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66 / 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3163824"/>
            <a:ext cx="219456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32552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TF-IDF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3163824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70048" y="32552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3163824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87368" y="32552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3163824"/>
            <a:ext cx="155448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04688" y="32552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95160" y="3163824"/>
            <a:ext cx="21031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9168" y="3255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 / 100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1335024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18320" y="1335024"/>
            <a:ext cx="64008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73768" y="1444752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LLM+Corpus: highest recall AND precision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2203704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18320" y="2203704"/>
            <a:ext cx="64008" cy="749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73768" y="2313432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Corpus grounding mitigates LLM "domain blindness"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3072384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418320" y="3072384"/>
            <a:ext cx="64008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73768" y="3182112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TF-IDF: 46.4% irrelevant noise — semantically blind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18320" y="3941064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418320" y="3941064"/>
            <a:ext cx="64008" cy="7498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73768" y="4050792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NER: decent recall, but 33 'Mixed Feelings'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617220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62179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Recall = % of expert-defined reference terms recovered by each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— NLD Quality &amp; Taxonomic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435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Natural Language Definition Accuracy (%)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55064"/>
            <a:ext cx="1874519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00784"/>
            <a:ext cx="18105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5999" y="1655064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19" y="1700784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59" y="1655064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1700784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19" y="1655064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1700784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1655064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599" y="1700784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39112"/>
            <a:ext cx="1874519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Correct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5999" y="2039112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19" y="210312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53.7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59" y="2039112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79" y="210312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66.0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19" y="2039112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10312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57.0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79" y="2039112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599" y="210312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34.7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423160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487168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Partially Correct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5999" y="242316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19" y="248716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34.0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59" y="242316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79" y="248716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24.3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19" y="242316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248716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79" y="242316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599" y="248716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807208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871216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Incorrect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5999" y="2807208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19" y="2871216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59" y="2807208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54679" y="2871216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6.7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19" y="2807208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77639" y="2871216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15.3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79" y="2807208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599" y="2871216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191256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255264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Ambiguous/Unknown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5999" y="3191256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31719" y="32552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59" y="3191256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54679" y="32552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31919" y="3191256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77639" y="32552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4.0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79" y="3191256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00599" y="32552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30.4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3712464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LLM-Generated leads on NLD accuracy — canonical terms have robust internal definitions.
LLM+Corpus suffers context blindness: complex terms lack source grounding.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1243584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Taxonomic Categorization — Final Majority Metrics (%)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1655064"/>
            <a:ext cx="233172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1700784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1655064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49640" y="170078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53728" y="1655064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99448" y="170078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03536" y="1655064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9256" y="170078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753344" y="1655064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799064" y="170078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2039112"/>
            <a:ext cx="2331720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209397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Correct 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03920" y="2039112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49640" y="209397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71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53728" y="2039112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99448" y="209397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66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03536" y="2039112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49256" y="209397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68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753344" y="2039112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799064" y="209397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36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2200" y="2423160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0" y="2478024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Partial 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03920" y="242316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49640" y="247802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53728" y="242316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99448" y="247802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03536" y="242316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49256" y="247802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753344" y="242316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99064" y="247802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72200" y="2807208"/>
            <a:ext cx="2331720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17920" y="2862072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Disputed / Rejected 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03920" y="2807208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49640" y="286207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18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53728" y="2807208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99448" y="286207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03536" y="2807208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49256" y="286207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753344" y="2807208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799064" y="2862072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59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72200" y="3191256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17920" y="324612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Strict Consensus
(Correct &amp; Specific)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03920" y="3191256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49640" y="32461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253728" y="3191256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99448" y="32461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43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03536" y="3191256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049256" y="32461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753344" y="3191256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799064" y="32461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72200" y="3712464"/>
            <a:ext cx="5605272" cy="6858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72200" y="3712464"/>
            <a:ext cx="7315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80" y="3803904"/>
            <a:ext cx="5330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3864"/>
                </a:solidFill>
                <a:latin typeface="Calibri"/>
              </a:rPr>
              <a:t>LLM+Corpus: highest overall accuracy (71%) + lowest rejection (18%).
Corpus acts as a decisive 'validity filter' for extracted terms.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Resulting Conceptual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  <a:latin typeface="Calibri"/>
              </a:rPr>
              <a:t>Expert-validated preliminary domain taxonomy — Brazilian Pre-Salt Petroleum Reservoirs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435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was 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55064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Terms with unanimous expert consensus (Relevant + Correct &amp; Specific)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Formally placed in BFO → GeoCore → GeoReservoir hierarchy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Not yet axiomatized (no properties/relations yet)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Foundation for an industrial petroleum similarity-search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095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Example taxonomy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621024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621024"/>
            <a:ext cx="64008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6674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Shale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Indep. Continuant
→ Material Entity → GeoCore:AmountOfRock
→ GeoReservoir:SedimentaryRock → Shale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718304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718304"/>
            <a:ext cx="6400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6402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Diagenesis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02352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Occurrent → Process
→ GeoCore:GeologicalProcess → Diagenesis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815584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815584"/>
            <a:ext cx="64008" cy="100584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6130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55"/>
                </a:solidFill>
                <a:latin typeface="Calibri"/>
              </a:rPr>
              <a:t>Porosity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99632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Spec. Dep. Continuant
→ BFO:Quality → Porosity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243584"/>
            <a:ext cx="6473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Scope of the taxonomy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1700784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0" y="1700784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1728216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Sedimentary Rocks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1975104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Evaporite, Microbialite, Shale, Source Rock, Coquina…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2295144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0" y="2295144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2322576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Processes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2569464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Diagenesis, Dissolution, Compaction, Erosion…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2889504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2889504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2916936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Properties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163824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Porosity, Permeability, Reservoir Quality, Alkalinity…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3483864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03520" y="3483864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40680" y="3511296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Earth Fluids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3758184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Hydrocarbon, Organic Matter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4078224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0" y="4078224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4105656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Contacts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4352544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Onlap, Unconformity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0" y="4672584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03520" y="4672584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0680" y="4700016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Time Intervals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946904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Aptian, Barremian, Hauterivian, Early Cretaceous…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0" y="5449824"/>
            <a:ext cx="6473952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0" y="5522976"/>
            <a:ext cx="6291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github.com/BDI-UFRGS/PreSaltOntology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the Experiment Revealed — Open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  <a:latin typeface="Calibri"/>
              </a:rPr>
              <a:t>These findings directly motivate our current, improved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35024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35024"/>
            <a:ext cx="3617976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44752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Context Blindness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83664"/>
            <a:ext cx="3435096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993392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A1A2E"/>
                </a:solidFill>
                <a:latin typeface="Calibri"/>
              </a:rPr>
              <a:t>NLDs generated without source context → generic / outdated definitions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569464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LLM+Corpus: 34% 'Partially Correct' NLDs despite best term quality
• Outdated paradigms propagated (e.g., homogeneous microbial origin of Pre-Salt carbonates)
• General LLM's training data has temporal constraints
→ Fix: provide relevant corpus passages at NLD generation time (RAG)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5488" y="1335024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5488" y="1335024"/>
            <a:ext cx="3617976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6" y="1444752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Ambiguity — Not-Strict Consensus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6928" y="1883664"/>
            <a:ext cx="3435096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5216" y="1993392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A1A2E"/>
                </a:solidFill>
                <a:latin typeface="Calibri"/>
              </a:rPr>
              <a:t>Expert disagreement on complex real-world terms reveals categorization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5216" y="2569464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LLM+Corpus: 39 Strict vs 32 Majority-only correct (categorization)
• LLM's reasoning potential constrained by lack of domain grounding
• Real terms extracted from reports are inherently more ambiguous
→ Fix: source context in NLD phase expected to elevate majority → strict consensus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9496" y="1335024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9496" y="1335024"/>
            <a:ext cx="3617976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9224" y="1444752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Granularity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0936" y="1883664"/>
            <a:ext cx="3435096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9224" y="1993392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A1A2E"/>
                </a:solidFill>
                <a:latin typeface="Calibri"/>
              </a:rPr>
              <a:t>Automated extraction favors generic terms; compound terms and properties are under-extracted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9224" y="2569464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Petrophysical properties (e.g., 'grain roundness') systematically missed
• Prompt constraints prioritized classes, excluded numerical values
• Experts expected more specific compound terms
→ Fix: explicit prompt instruction to also extract properties and attributes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66943"/>
            <a:ext cx="11365992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266943"/>
            <a:ext cx="73152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358383"/>
            <a:ext cx="11045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All three problems point to the same architectural fix: Retrieval-Augmented Generation (RAG) in the NLD generation phase.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Ongoing Work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435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Current Implementation (addressing all open problems)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00784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Hybrid RAG retrieval: dense (BGE-M3) + sparse (BM25) + cross-encoder reranker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NLD generation grounded in source corpus passages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Expanded corpus: 80 papers (2× the preliminary experiment)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Ablation study: 4 conditions — Full RAG / No RAG / No NLD / Raw RAG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Statistical expert evaluation: Wilcoxon, Friedman, ICC, Fleiss' kappa</a:t>
            </a:r>
          </a:p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 b="0">
                <a:solidFill>
                  <a:srgbClr val="1A1A2E"/>
                </a:solidFill>
                <a:latin typeface="Calibri"/>
              </a:rPr>
              <a:t>OWL export: complete taxonomy → Turtle RDF (Protégé-compatible)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43584"/>
            <a:ext cx="5513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Conclusions from this paper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00784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00784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92224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LLM+Corpus is the strongest strategy: 60% recall, 97.8% precision, 71% correct categories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505456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505456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596896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NLDs as a semantic pivot are effective: formal multi-layered classification without fine-tuning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310128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310128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401568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fine-tuning required: general-purpose LLMs can bootstrap domain ontology construction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114800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4114800"/>
            <a:ext cx="64008" cy="6766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206240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Context blindness is the principal remaining bottleneck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919472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919472"/>
            <a:ext cx="64008" cy="67665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5010912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RAG is the clear architectural next step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89788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97880"/>
            <a:ext cx="121889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0076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Thank you!   Questions welcome.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19087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7"/>
                </a:solidFill>
                <a:latin typeface="Calibri"/>
              </a:rPr>
              <a:t>github.com/BDI-UFRGS/PreSaltOntology  ·  Funded by CAPES, CNPq, Petrobras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