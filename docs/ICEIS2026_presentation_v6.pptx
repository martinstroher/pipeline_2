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40</c:v>
                </c:pt>
                <c:pt idx="2">
                  <c:v>32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Relevant (%)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97.8</c:v>
                </c:pt>
                <c:pt idx="1">
                  <c:v>96.2</c:v>
                </c:pt>
                <c:pt idx="2">
                  <c:v>86.6</c:v>
                </c:pt>
                <c:pt idx="3">
                  <c:v>46.0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ED7D31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66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1E885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53.7</c:v>
                </c:pt>
                <c:pt idx="1">
                  <c:v>66.0</c:v>
                </c:pt>
                <c:pt idx="2">
                  <c:v>57.0</c:v>
                </c:pt>
                <c:pt idx="3">
                  <c:v>34.7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Correct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34.0</c:v>
                </c:pt>
                <c:pt idx="1">
                  <c:v>24.3</c:v>
                </c:pt>
                <c:pt idx="2">
                  <c:v>22.3</c:v>
                </c:pt>
                <c:pt idx="3">
                  <c:v>22.0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Incorrect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9.7</c:v>
                </c:pt>
                <c:pt idx="1">
                  <c:v>6.7</c:v>
                </c:pt>
                <c:pt idx="2">
                  <c:v>15.3</c:v>
                </c:pt>
                <c:pt idx="3">
                  <c:v>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Ambiguous/Unknown</c:v>
                </c:pt>
              </c:strCache>
            </c:strRef>
          </c:tx>
          <c:spPr>
            <a:solidFill>
              <a:srgbClr val="999999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2.0</c:v>
                </c:pt>
                <c:pt idx="1">
                  <c:v>2.6</c:v>
                </c:pt>
                <c:pt idx="2">
                  <c:v>4.0</c:v>
                </c:pt>
                <c:pt idx="3">
                  <c:v>30.4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43</c:v>
                </c:pt>
                <c:pt idx="2">
                  <c:v>23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Majority Correct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66</c:v>
                </c:pt>
                <c:pt idx="2">
                  <c:v>68</c:v>
                </c:pt>
                <c:pt idx="3">
                  <c:v>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Majority Partial</c:v>
                </c:pt>
              </c:strCache>
            </c:strRef>
          </c:tx>
          <c:spPr>
            <a:solidFill>
              <a:srgbClr val="DAA520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</c:v>
                </c:pt>
                <c:pt idx="1">
                  <c:v>9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Disputed/Rejected</c:v>
                </c:pt>
              </c:strCache>
            </c:strRef>
          </c:tx>
          <c:spPr>
            <a:solidFill>
              <a:srgbClr val="C0392B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18</c:v>
                </c:pt>
                <c:pt idx="1">
                  <c:v>25</c:v>
                </c:pt>
                <c:pt idx="2">
                  <c:v>22</c:v>
                </c:pt>
                <c:pt idx="3">
                  <c:v>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15094-8971-4481-9B26-1D1DECD337F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134B6-240B-4762-AEC2-1BEE53C3A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4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134B6-240B-4762-AEC2-1BEE53C3AB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036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Calibri"/>
              </a:rPr>
              <a:t>LLM-Driven Ontology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2024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75B6"/>
                </a:solidFill>
                <a:latin typeface="Calibri"/>
              </a:rPr>
              <a:t>From Term Extraction to Upper-Level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231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5B6"/>
                </a:solidFill>
                <a:latin typeface="Calibri"/>
              </a:rPr>
              <a:t>for Building Information System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1752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3072384"/>
            <a:ext cx="11365992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Martin Ströher  ·  Thaís Schäfer Luiz  ·  Eduardo Roemers-Oliveira  ·  Lucas Valadares Vieira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30168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Fábio Herbert Jones  ·  Luiz Fernando De Ros  ·  Mara 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UFRGS  ·  UFRJ  ·  Petrobras Research Center  ·  Colorado State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4076" y="4846320"/>
            <a:ext cx="640080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4076" y="4846320"/>
            <a:ext cx="6400800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1236" y="491947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ICEIS 2026  —  International Conference on Enterprise Information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Context: The Knowledge Acquisition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555555"/>
                </a:solidFill>
              </a:rPr>
              <a:t>From formal knowledge models to automated taxonomy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Ontologies: formal models of domain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27048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>
                <a:solidFill>
                  <a:srgbClr val="1A1A2E"/>
                </a:solidFill>
              </a:rPr>
              <a:t>Shared vocabulary with formal semantics</a:t>
            </a:r>
          </a:p>
          <a:p>
            <a:r>
              <a:rPr sz="1300">
                <a:solidFill>
                  <a:srgbClr val="1A1A2E"/>
                </a:solidFill>
              </a:rPr>
              <a:t>Enable reasoning, interoperability, consistency checking</a:t>
            </a:r>
          </a:p>
          <a:p>
            <a:r>
              <a:rPr sz="1300">
                <a:solidFill>
                  <a:srgbClr val="1A1A2E"/>
                </a:solidFill>
              </a:rPr>
              <a:t>Backbone for data models &amp; retrieval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4436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Why building them is slow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55848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>
                <a:solidFill>
                  <a:srgbClr val="1A1A2E"/>
                </a:solidFill>
              </a:rPr>
              <a:t>Terminology acquisition + conceptualization (NeOn methodology)</a:t>
            </a:r>
          </a:p>
          <a:p>
            <a:r>
              <a:rPr sz="1300">
                <a:solidFill>
                  <a:srgbClr val="1A1A2E"/>
                </a:solidFill>
              </a:rPr>
              <a:t>Requires dual expertise: domain + ontology engineering</a:t>
            </a:r>
          </a:p>
          <a:p>
            <a:r>
              <a:rPr sz="1300">
                <a:solidFill>
                  <a:srgbClr val="1A1A2E"/>
                </a:solidFill>
              </a:rPr>
              <a:t>Cannot keep pace with exponential growth of literature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932688"/>
            <a:ext cx="5056632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115568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Our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2704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>
                <a:solidFill>
                  <a:srgbClr val="1A1A2E"/>
                </a:solidFill>
              </a:rPr>
              <a:t>Domain: Brazilian Pre-Salt carbonate reservoirs</a:t>
            </a:r>
          </a:p>
          <a:p>
            <a:r>
              <a:rPr sz="1300">
                <a:solidFill>
                  <a:srgbClr val="1A1A2E"/>
                </a:solidFill>
              </a:rPr>
              <a:t>Upper ontologies: BFO → GeoCore → GeoReservoir</a:t>
            </a:r>
          </a:p>
          <a:p>
            <a:r>
              <a:rPr sz="1300">
                <a:solidFill>
                  <a:srgbClr val="1A1A2E"/>
                </a:solidFill>
              </a:rPr>
              <a:t>Goal: formal taxonomy of geological concepts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081528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218688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>
                <a:solidFill>
                  <a:srgbClr val="1F3864"/>
                </a:solidFill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63016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LLM-driven taxonomy learning — no fine-tuning, no labeled data
Automates terminology + classification into upper-ontology hierarchies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Research Question &amp; Core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1234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33856"/>
            <a:ext cx="11000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1F3864"/>
                </a:solidFill>
              </a:rPr>
              <a:t>Can a general-purpose LLM extract terms and classify them into formal upper-ontology hierarchies — without fine-tuning?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4144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is a Natural Language Definition (NLD)?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25496"/>
            <a:ext cx="5029200" cy="1417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825496"/>
            <a:ext cx="64008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16936"/>
            <a:ext cx="4773168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"X  is a  Y  that  Z"
genus + differentia → human &amp; LLM parseable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825496"/>
            <a:ext cx="6016752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2825496"/>
            <a:ext cx="64008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28986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Term:  Coquina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3172968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and is a key Pre-Salt reservoir rock in Brazil."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4398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Key Insight — Lopes Junior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&gt;90% macro-F1 for BFO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Best representation — cross-language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828032"/>
            <a:ext cx="35204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First: NLDs for extraction + hierarchy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4 phases — applied to 40 curated Brazilian Pre-Salt scientific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Corpus
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40 peer-reviewed Pre-Salt articles</a:t>
            </a:r>
          </a:p>
          <a:p>
            <a:r>
              <a:rPr sz="1250">
                <a:solidFill>
                  <a:srgbClr val="1A1A2E"/>
                </a:solidFill>
              </a:rPr>
              <a:t>Senior specialist curated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7540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6140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6140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614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Term Acquisition
(4 Pipelines)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LLM + Corpus (extractive)</a:t>
            </a:r>
          </a:p>
          <a:p>
            <a:r>
              <a:rPr sz="1250">
                <a:solidFill>
                  <a:srgbClr val="1A1A2E"/>
                </a:solidFill>
              </a:rPr>
              <a:t>LLM Generated (zero-shot)</a:t>
            </a:r>
          </a:p>
          <a:p>
            <a:r>
              <a:rPr sz="1250">
                <a:solidFill>
                  <a:srgbClr val="1A1A2E"/>
                </a:solidFill>
              </a:rPr>
              <a:t>NER + Corpus (hybrid)</a:t>
            </a:r>
          </a:p>
          <a:p>
            <a:r>
              <a:rPr sz="1250">
                <a:solidFill>
                  <a:srgbClr val="1A1A2E"/>
                </a:solidFill>
              </a:rPr>
              <a:t>TF-IDF (baseline)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3892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2492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2492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NLD-Centric
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Aristotelian NLD generation</a:t>
            </a:r>
          </a:p>
          <a:p>
            <a:r>
              <a:rPr sz="1250">
                <a:solidFill>
                  <a:srgbClr val="1A1A2E"/>
                </a:solidFill>
              </a:rPr>
              <a:t>CoT categorization</a:t>
            </a:r>
          </a:p>
          <a:p>
            <a:r>
              <a:rPr sz="1250">
                <a:solidFill>
                  <a:srgbClr val="1A1A2E"/>
                </a:solidFill>
              </a:rPr>
              <a:t>BFO → GeoCore → GeoReservoir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0244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8844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38844" y="1115568"/>
            <a:ext cx="25603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38844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0284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Specialist
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572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5 domain experts (PhD + MSc)</a:t>
            </a:r>
          </a:p>
          <a:p>
            <a:r>
              <a:rPr sz="1250">
                <a:solidFill>
                  <a:srgbClr val="1A1A2E"/>
                </a:solidFill>
              </a:rPr>
              <a:t>Relevance, NLD, category eval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72200"/>
            <a:ext cx="11365992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  <a:latin typeface="Calibri"/>
              </a:rPr>
              <a:t>Model: Gemini 2.5 Pro  ·  Temperature = 0 (deterministic)  ·  Ontology stack: BFO → GeoCore → GeoReservoir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2: The Four Term Extraction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53492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P1 — LLM +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Extractive mode: LLM reads each of the 40 articles and extracts all relevant geological terms directly from the text.
Stemming + normalization applied for aggregation.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024128"/>
            <a:ext cx="53492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P2 — LLM 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Zero-shot, corpus-agnostic: LLM generates the 500 most important domain terms from its pre-trained knowledge alone.
Temperature = 0.2 for slight lexical variance.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584448"/>
            <a:ext cx="5349240" cy="64008"/>
          </a:xfrm>
          <a:prstGeom prst="rect">
            <a:avLst/>
          </a:prstGeom>
          <a:solidFill>
            <a:srgbClr val="5B2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C8D"/>
                </a:solidFill>
                <a:latin typeface="Calibri"/>
              </a:rPr>
              <a:t>P3 — NER +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Hybrid / cross-lingual: XLM-RoBERTa Large fine-tuned on PetroGeoNER corpus extracts terms + NER labels.
Tests specialized NER model against general LLM.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584448"/>
            <a:ext cx="5349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P4 —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TF-IDF on 40-article corpus
Traditional frequency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26364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All 4 pipelines feed into the same unified NLD-centric classification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3: NLD-Centric Classification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Standardized across all pipelines — explicitly tests Lopes Junior (2025)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" y="1069848"/>
            <a:ext cx="32918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Step 1 — NLD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Persona: "Senior geoscientist + ontology engineer"
"X is a Y that Z"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855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8556" y="1069848"/>
            <a:ext cx="32918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571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Step 2 — CoT Categorization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CoT: term + NLD → category
Waterfall: GeoReservoir → GeoCore → BFO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440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187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1876" y="1069848"/>
            <a:ext cx="32918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903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Resulting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03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BFO → GeoCore → GeoReservoir
Expert-validated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7588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Examples from the Pre-Salt corpus: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4059936"/>
            <a:ext cx="3636264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Term:  Coquina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serving as a primary Pre-Salt reservoir rock in Brazil."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51576"/>
            <a:ext cx="345338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GeoReservoir:SedimentaryRock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6344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6344" y="4059936"/>
            <a:ext cx="36362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6072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Term:  Diagenesis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6072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"Diagenesis is a geological process that encompasses the physical, chemical, and biological changes affecting sedimentary material after deposition, including cementation, compaction, and dissolution, altering reservoir quality."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7784" y="5751576"/>
            <a:ext cx="3453384" cy="3108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GeoCore:GeologicalProcess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208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41208" y="4059936"/>
            <a:ext cx="3636264" cy="54864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50936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55"/>
                </a:solidFill>
                <a:latin typeface="Calibri"/>
              </a:rPr>
              <a:t>Term:  Porosity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936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"Porosity is a quality of a rock that is measured by the ratio of void space to total rock volume, controlling fluid storage capacity and governing the economic viability of a petroleum reservoir."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2648" y="5751576"/>
            <a:ext cx="3453384" cy="31089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8368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BFO:Quality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4: Blind Multi-Expert Validation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0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155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5 Domain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99616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PhD &amp; MSc, up to 20 yrs</a:t>
            </a:r>
          </a:p>
          <a:p>
            <a:r>
              <a:rPr sz="1300">
                <a:solidFill>
                  <a:srgbClr val="1A1A2E"/>
                </a:solidFill>
              </a:rPr>
              <a:t>Industry + Academia (Pre-Salt)</a:t>
            </a:r>
          </a:p>
          <a:p>
            <a:r>
              <a:rPr sz="1300">
                <a:solidFill>
                  <a:srgbClr val="1A1A2E"/>
                </a:solidFill>
              </a:rPr>
              <a:t>100 reference terms (20/expert)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024128"/>
            <a:ext cx="658368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57800" y="1024128"/>
            <a:ext cx="73152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111556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Sampling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99616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100 terms/pipeline × 4 = 400 entries</a:t>
            </a:r>
          </a:p>
          <a:p>
            <a:r>
              <a:rPr sz="1300">
                <a:solidFill>
                  <a:srgbClr val="1A1A2E"/>
                </a:solidFill>
              </a:rPr>
              <a:t>Anonymized, randomized</a:t>
            </a:r>
          </a:p>
          <a:p>
            <a:r>
              <a:rPr sz="1300">
                <a:solidFill>
                  <a:srgbClr val="1A1A2E"/>
                </a:solidFill>
              </a:rPr>
              <a:t>Blind evaluation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35204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Term 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5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Relevant / Irrelevant / Invalid / Unknown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87952" y="2944368"/>
            <a:ext cx="35204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5112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NLD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/ Partially Correct / Incorrect
Ambiguous / Wrong Context / Unknown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4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64424" y="2944368"/>
            <a:ext cx="35204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01584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Category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&amp; Specific / Correct but Unspecific
Incorrect / Unknown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Term Coverage &amp;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219456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521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004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Relevant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115568"/>
            <a:ext cx="155448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4688" y="11521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Irrelevant 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15568"/>
            <a:ext cx="21031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11521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Strictly Relevant
(Consensus)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72768"/>
            <a:ext cx="219456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+ Corpus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8736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97.8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572768"/>
            <a:ext cx="155448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1664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1572768"/>
            <a:ext cx="21031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91 /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0299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21214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Generated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8736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96.2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0299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4688" y="2121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20299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9168" y="2121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88 /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4871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NER + Corpus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004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8736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86.6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4871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04688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11.8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4871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8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66 /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2944368"/>
            <a:ext cx="219456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TF-IDF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8736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944368"/>
            <a:ext cx="155448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04688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2944368"/>
            <a:ext cx="21031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59168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111556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418320" y="1115568"/>
            <a:ext cx="64008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73768" y="122529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Best recall + precision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198424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20" y="1984248"/>
            <a:ext cx="64008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73768" y="209397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Corpus grounds the LLM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85292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18320" y="2852928"/>
            <a:ext cx="64008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3768" y="296265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46% noise — no semantics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372160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18320" y="3721608"/>
            <a:ext cx="64008" cy="7498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573768" y="383133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Decent recall, 33 disputed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617220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62179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Recall = % of expert-defined reference terms recovered by each pipeline</a:t>
            </a:r>
          </a:p>
        </p:txBody>
      </p:sp>
      <p:graphicFrame>
        <p:nvGraphicFramePr>
          <p:cNvPr id="71" name="Chart 70"/>
          <p:cNvGraphicFramePr>
            <a:graphicFrameLocks noGrp="1"/>
          </p:cNvGraphicFramePr>
          <p:nvPr/>
        </p:nvGraphicFramePr>
        <p:xfrm>
          <a:off x="411480" y="3700000"/>
          <a:ext cx="8800000" cy="2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NLD Quality &amp; Taxonomic Categorization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Natural Language Definition Accuracy 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35608"/>
            <a:ext cx="1874519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8105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599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1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5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1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3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59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19656"/>
            <a:ext cx="1874519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83664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599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1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53.7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5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7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66.0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1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7763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57.0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34.7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203704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267712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Partially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599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1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5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5467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24.3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1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3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7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59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587752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651760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Incorrect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599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1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5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5467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6.7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1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7763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15.3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0059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971800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035808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Ambiguous/Unknown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599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3171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5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5467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1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7763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7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0059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30.4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34930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555555"/>
                </a:solidFill>
              </a:rPr>
              <a:t>LLM-Gen best NLDs — canonical terms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1024128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Taxonomic Categorization — Final Majority Metrics (%)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1435608"/>
            <a:ext cx="23317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1481328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20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49640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53728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99448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03536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49256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53344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99064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1819656"/>
            <a:ext cx="2331720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187452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Correct 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49640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53728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03536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49256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53344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799064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36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2203704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Partial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03920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49640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53728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99448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03536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49256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53344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99064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87752"/>
            <a:ext cx="2331720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0" y="264261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Disputed / Rejected 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03920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49640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53728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299448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03536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049256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53344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799064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59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72200" y="2971800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17920" y="302666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Strict Consensus
(Correct &amp; Specific)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49640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39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53728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299448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43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03536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049256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23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753344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799064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3493008"/>
            <a:ext cx="5605272" cy="6858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172200" y="3493008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55080" y="3584448"/>
            <a:ext cx="5330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F3864"/>
                </a:solidFill>
              </a:rPr>
              <a:t>LLM+Corpus: 71% correct, 18% rejected</a:t>
            </a:r>
          </a:p>
        </p:txBody>
      </p:sp>
      <p:graphicFrame>
        <p:nvGraphicFramePr>
          <p:cNvPr id="113" name="Chart 112"/>
          <p:cNvGraphicFramePr>
            <a:graphicFrameLocks noGrp="1"/>
          </p:cNvGraphicFramePr>
          <p:nvPr/>
        </p:nvGraphicFramePr>
        <p:xfrm>
          <a:off x="411480" y="4100000"/>
          <a:ext cx="5200000" cy="23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4" name="Chart 113"/>
          <p:cNvGraphicFramePr>
            <a:graphicFrameLocks noGrp="1"/>
          </p:cNvGraphicFramePr>
          <p:nvPr/>
        </p:nvGraphicFramePr>
        <p:xfrm>
          <a:off x="5900000" y="4100000"/>
          <a:ext cx="5900000" cy="23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Resulting Conceptual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Expert-validated preliminary domain taxonomy — Brazilian Pre-Salt Petroleum Reservoirs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was 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Unanimous expert consensus</a:t>
            </a:r>
          </a:p>
          <a:p>
            <a:r>
              <a:rPr sz="1350">
                <a:solidFill>
                  <a:srgbClr val="1A1A2E"/>
                </a:solidFill>
              </a:rPr>
              <a:t>BFO → GeoCore → GeoReservoir hierarchy</a:t>
            </a:r>
          </a:p>
          <a:p>
            <a:r>
              <a:rPr sz="1350">
                <a:solidFill>
                  <a:srgbClr val="1A1A2E"/>
                </a:solidFill>
              </a:rPr>
              <a:t>Classes only — no axioms yet</a:t>
            </a:r>
          </a:p>
          <a:p>
            <a:r>
              <a:rPr sz="1350">
                <a:solidFill>
                  <a:srgbClr val="1A1A2E"/>
                </a:solidFill>
              </a:rPr>
              <a:t>Foundation for similarity-search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Example taxonomy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0156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401568"/>
            <a:ext cx="64008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Shale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561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Indep. Continuant
→ Material Entity → GeoCore:AmountOfRock
→ GeoReservoir:SedimentaryRock → Shale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9884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4498848"/>
            <a:ext cx="6400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445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Diagenesis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8289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Occurrent → Process
→ GeoCore:GeologicalProcess → Diagenesis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9612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5596128"/>
            <a:ext cx="64008" cy="100584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41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55"/>
                </a:solidFill>
                <a:latin typeface="Calibri"/>
              </a:rPr>
              <a:t>Porosity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017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Spec. Dep. Continuant
→ BFO:Quality → Porosity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024128"/>
            <a:ext cx="6473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Scope of the taxonomy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14813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0" y="14813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80" y="15087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Sedimentary Rocks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17556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Evaporite, Microbialite, Shale, Source Rock, Coquina…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07568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0" y="207568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40680" y="210312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35000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Diagenesis, Dissolution, Compaction, Erosion…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7004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0" y="267004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40680" y="269748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294436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Porosity, Permeability, Reservoir Quality, Alkalinity…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326440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03520" y="326440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40680" y="329184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Earth Fluids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53872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Hydrocarbon, Organic Matter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85876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0" y="385876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40680" y="388620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Contacts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13308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Onlap, Unconformity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44531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03520" y="44531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40680" y="44805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Time Intervals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47274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Aptian, Barremian, Hauterivian, Early Cretaceous…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5230368"/>
            <a:ext cx="6473952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94960" y="5303520"/>
            <a:ext cx="6291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github.com/BDI-UFRGS/PreSaltOntology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What the Experiment Revealed — Open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These findings directly motivate our current, improved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115568"/>
            <a:ext cx="3617976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Context Blindness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343509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No source context → generic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34% NLDs only 'Partially Correct'</a:t>
            </a:r>
          </a:p>
          <a:p>
            <a:r>
              <a:rPr sz="1150">
                <a:solidFill>
                  <a:srgbClr val="1A1A2E"/>
                </a:solidFill>
              </a:rPr>
              <a:t>Outdated paradigms propagated</a:t>
            </a:r>
          </a:p>
          <a:p>
            <a:r>
              <a:rPr sz="1150">
                <a:solidFill>
                  <a:srgbClr val="1A1A2E"/>
                </a:solidFill>
              </a:rPr>
              <a:t>→ Fix: RAG at NLD generation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5488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5488" y="1115568"/>
            <a:ext cx="3617976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5216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Ambiguity — Not-Strict Consensus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6928" y="1664208"/>
            <a:ext cx="3435096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5216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Expert disagreement → categorization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5216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39 Strict vs 32 Majority-only</a:t>
            </a:r>
          </a:p>
          <a:p>
            <a:r>
              <a:rPr sz="1150">
                <a:solidFill>
                  <a:srgbClr val="1A1A2E"/>
                </a:solidFill>
              </a:rPr>
              <a:t>LLM reasoning limited without grounding</a:t>
            </a:r>
          </a:p>
          <a:p>
            <a:r>
              <a:rPr sz="1150">
                <a:solidFill>
                  <a:srgbClr val="1A1A2E"/>
                </a:solidFill>
              </a:rPr>
              <a:t>→ Fix: domain context to elevate consensus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9496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59496" y="1115568"/>
            <a:ext cx="3617976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9224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/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250936" y="1664208"/>
            <a:ext cx="3435096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9224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/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9224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"/>
              <a:t/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47487"/>
            <a:ext cx="11365992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047487"/>
            <a:ext cx="73152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138927"/>
            <a:ext cx="11045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50">
                <a:solidFill>
                  <a:srgbClr val="1F3864"/>
                </a:solidFill>
              </a:rPr>
              <a:t>Both problems → same fix: RAG at NLD generation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Ongoing Work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Current Implementation (addressing all open problems)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Hybrid RAG: BGE-M3 + BM25 + reranker</a:t>
            </a:r>
          </a:p>
          <a:p>
            <a:r>
              <a:rPr sz="1350">
                <a:solidFill>
                  <a:srgbClr val="1A1A2E"/>
                </a:solidFill>
              </a:rPr>
              <a:t>NLDs grounded in source text</a:t>
            </a:r>
          </a:p>
          <a:p>
            <a:r>
              <a:rPr sz="1350">
                <a:solidFill>
                  <a:srgbClr val="1A1A2E"/>
                </a:solidFill>
              </a:rPr>
              <a:t>80 papers (2× this study)</a:t>
            </a:r>
          </a:p>
          <a:p>
            <a:r>
              <a:rPr sz="1350">
                <a:solidFill>
                  <a:srgbClr val="1A1A2E"/>
                </a:solidFill>
              </a:rPr>
              <a:t>4-condition ablation study</a:t>
            </a:r>
          </a:p>
          <a:p>
            <a:r>
              <a:rPr sz="1350">
                <a:solidFill>
                  <a:srgbClr val="1A1A2E"/>
                </a:solidFill>
              </a:rPr>
              <a:t>Statistical expert eval: Wilcoxon, Friedman, ICC</a:t>
            </a:r>
          </a:p>
          <a:p>
            <a:r>
              <a:rPr sz="1350">
                <a:solidFill>
                  <a:srgbClr val="1A1A2E"/>
                </a:solidFill>
              </a:rPr>
              <a:t>OWL/Turtle export (Protégé-compatible)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24128"/>
            <a:ext cx="5513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Conclusions from this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81328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72768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LLM+Corpus is the strongest strategy: 60% recall, 97.8% precision, 71% correct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77440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NLDs as a semantic pivot are effective: formal multi-layered classification without fine-tuning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90672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090672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182112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fine-tuning required: general-purpose LLMs can bootstrap domain ontology construction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95344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95344"/>
            <a:ext cx="64008" cy="6766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986784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Context blindness is the principal remaining 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700016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4700016"/>
            <a:ext cx="64008" cy="67665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4791456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RAG is the clear architectural next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89788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5897880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934456"/>
            <a:ext cx="11365992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989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Thank you!   Questions welcome.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75B6"/>
                </a:solidFill>
                <a:latin typeface="Calibri"/>
              </a:rPr>
              <a:t>github.com/BDI-UFRGS/PreSaltOntology  ·  Funded by CAPES, CNPq, Petrobras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1889</Words>
  <Application>Microsoft Office PowerPoint</Application>
  <PresentationFormat>Custom</PresentationFormat>
  <Paragraphs>251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Andrade</cp:lastModifiedBy>
  <cp:revision>2</cp:revision>
  <dcterms:created xsi:type="dcterms:W3CDTF">2013-01-27T09:14:16Z</dcterms:created>
  <dcterms:modified xsi:type="dcterms:W3CDTF">2026-04-02T18:39:20Z</dcterms:modified>
  <cp:category/>
</cp:coreProperties>
</file>