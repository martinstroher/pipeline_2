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70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10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A26-4B1F-BAE0-EE22FAAB2F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Relevant (%)</c:v>
                </c:pt>
              </c:strCache>
            </c:strRef>
          </c:tx>
          <c:spPr>
            <a:solidFill>
              <a:srgbClr val="1E885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96.2</c:v>
                </c:pt>
                <c:pt idx="2">
                  <c:v>86.6</c:v>
                </c:pt>
                <c:pt idx="3">
                  <c:v>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A26-4B1F-BAE0-EE22FAAB2F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ED7D3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66</c:v>
                </c:pt>
                <c:pt idx="3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A26-4B1F-BAE0-EE22FAAB2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E885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66</c:v>
                </c:pt>
                <c:pt idx="2">
                  <c:v>57</c:v>
                </c:pt>
                <c:pt idx="3">
                  <c:v>34.700000000000003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A9D-4115-A2EB-756C184126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Correct</c:v>
                </c:pt>
              </c:strCache>
            </c:strRef>
          </c:tx>
          <c:spPr>
            <a:solidFill>
              <a:srgbClr val="5B9BD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</c:v>
                </c:pt>
                <c:pt idx="1">
                  <c:v>24.3</c:v>
                </c:pt>
                <c:pt idx="2">
                  <c:v>22.3</c:v>
                </c:pt>
                <c:pt idx="3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A9D-4115-A2EB-756C184126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Incorrect</c:v>
                </c:pt>
              </c:strCache>
            </c:strRef>
          </c:tx>
          <c:spPr>
            <a:solidFill>
              <a:srgbClr val="C0392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9.6999999999999993</c:v>
                </c:pt>
                <c:pt idx="1">
                  <c:v>6.7</c:v>
                </c:pt>
                <c:pt idx="2">
                  <c:v>15.3</c:v>
                </c:pt>
                <c:pt idx="3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A9D-4115-A2EB-756C1841269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Ambiguous/Unknown</c:v>
                </c:pt>
              </c:strCache>
            </c:strRef>
          </c:tx>
          <c:spPr>
            <a:solidFill>
              <a:srgbClr val="999999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2.6</c:v>
                </c:pt>
                <c:pt idx="2">
                  <c:v>4</c:v>
                </c:pt>
                <c:pt idx="3">
                  <c:v>30.4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A9D-4115-A2EB-756C18412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1E885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43</c:v>
                </c:pt>
                <c:pt idx="2">
                  <c:v>23</c:v>
                </c:pt>
                <c:pt idx="3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70-40C1-8EF5-26C0E34CA3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Correct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66</c:v>
                </c:pt>
                <c:pt idx="2">
                  <c:v>68</c:v>
                </c:pt>
                <c:pt idx="3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F70-40C1-8EF5-26C0E34CA3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Majority Partial</c:v>
                </c:pt>
              </c:strCache>
            </c:strRef>
          </c:tx>
          <c:spPr>
            <a:solidFill>
              <a:srgbClr val="DAA52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F70-40C1-8EF5-26C0E34CA3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Disputed/Rejected</c:v>
                </c:pt>
              </c:strCache>
            </c:strRef>
          </c:tx>
          <c:spPr>
            <a:solidFill>
              <a:srgbClr val="C0392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F70-40C1-8EF5-26C0E34CA3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15094-8971-4481-9B26-1D1DECD337F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34B6-240B-4762-AEC2-1BEE53C3A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134B6-240B-4762-AEC2-1BEE53C3AB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75B6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5B6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072384"/>
            <a:ext cx="11365992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1365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Calibri"/>
              </a:rPr>
              <a:t>Martin Ströher  · </a:t>
            </a:r>
            <a:r>
              <a:rPr lang="en-US" sz="1400" dirty="0">
                <a:solidFill>
                  <a:srgbClr val="1A1A2E"/>
                </a:solidFill>
              </a:rPr>
              <a:t>Mara Abel </a:t>
            </a:r>
            <a:r>
              <a:rPr sz="1400" b="0" i="0" dirty="0">
                <a:solidFill>
                  <a:srgbClr val="1A1A2E"/>
                </a:solidFill>
                <a:latin typeface="Calibri"/>
              </a:rPr>
              <a:t>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0168"/>
            <a:ext cx="11365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Calibri"/>
              </a:rPr>
              <a:t>Fábio Herbert Jones  ·  Luiz Fernando De Ros  ·</a:t>
            </a:r>
            <a:r>
              <a:rPr lang="pt-BR" sz="1400" b="0" i="0" dirty="0">
                <a:solidFill>
                  <a:srgbClr val="1A1A2E"/>
                </a:solidFill>
                <a:latin typeface="Calibri"/>
              </a:rPr>
              <a:t>  </a:t>
            </a:r>
            <a:r>
              <a:rPr lang="en-US" sz="1400" dirty="0">
                <a:solidFill>
                  <a:srgbClr val="1A1A2E"/>
                </a:solidFill>
              </a:rPr>
              <a:t>Thaís Schäfer Luiz </a:t>
            </a:r>
            <a:endParaRPr sz="14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6" y="4846320"/>
            <a:ext cx="64008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4076" y="4846320"/>
            <a:ext cx="6400800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1236" y="4919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ICEIS 2026  —  International Conference on Enterprise Information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From formal knowledge models to automated taxonomy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353" y="1083451"/>
            <a:ext cx="621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</a:rPr>
              <a:t>Ontologies: formal models of domain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Shared vocabulary with formal semantics</a:t>
            </a:r>
            <a:endParaRPr lang="pt-BR" sz="14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Enable reasoning, interoperability, consistency checking</a:t>
            </a:r>
            <a:endParaRPr lang="pt-BR" sz="14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Backbone for data models &amp; retrieval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</a:rPr>
              <a:t>Why building them is 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 dirty="0">
                <a:solidFill>
                  <a:srgbClr val="1A1A2E"/>
                </a:solidFill>
              </a:rPr>
              <a:t>Terminology acquisition + conceptualization</a:t>
            </a:r>
            <a:endParaRPr lang="pt-BR" sz="13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 dirty="0">
                <a:solidFill>
                  <a:srgbClr val="1A1A2E"/>
                </a:solidFill>
              </a:rPr>
              <a:t>Requires dual </a:t>
            </a:r>
            <a:r>
              <a:rPr sz="1400" dirty="0">
                <a:solidFill>
                  <a:srgbClr val="1A1A2E"/>
                </a:solidFill>
              </a:rPr>
              <a:t>expertise</a:t>
            </a:r>
            <a:r>
              <a:rPr sz="1300" dirty="0">
                <a:solidFill>
                  <a:srgbClr val="1A1A2E"/>
                </a:solidFill>
              </a:rPr>
              <a:t>: domain + ontology engineering</a:t>
            </a:r>
            <a:endParaRPr lang="pt-BR" sz="13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lang="pt-BR" sz="1300" dirty="0">
                <a:solidFill>
                  <a:srgbClr val="1A1A2E"/>
                </a:solidFill>
              </a:rPr>
              <a:t>Many working hours, inteviews, etc.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</a:rPr>
              <a:t>Our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Domain: Brazilian Pre-Salt carbonate reservoirs</a:t>
            </a:r>
            <a:endParaRPr lang="pt-BR" sz="14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Upper ontologies: BFO → </a:t>
            </a:r>
            <a:r>
              <a:rPr sz="1400" dirty="0" err="1">
                <a:solidFill>
                  <a:srgbClr val="1A1A2E"/>
                </a:solidFill>
              </a:rPr>
              <a:t>GeoCore</a:t>
            </a:r>
            <a:r>
              <a:rPr sz="1400" dirty="0">
                <a:solidFill>
                  <a:srgbClr val="1A1A2E"/>
                </a:solidFill>
              </a:rPr>
              <a:t> → </a:t>
            </a:r>
            <a:r>
              <a:rPr sz="1400" dirty="0" err="1">
                <a:solidFill>
                  <a:srgbClr val="1A1A2E"/>
                </a:solidFill>
              </a:rPr>
              <a:t>GeoReservoir</a:t>
            </a:r>
            <a:endParaRPr lang="pt-BR" sz="1400" dirty="0">
              <a:solidFill>
                <a:srgbClr val="1A1A2E"/>
              </a:solidFill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dirty="0">
                <a:solidFill>
                  <a:srgbClr val="1A1A2E"/>
                </a:solidFill>
              </a:rPr>
              <a:t>Goal: formal taxonomy of geological concepts</a:t>
            </a:r>
            <a:r>
              <a:rPr lang="pt-BR" sz="1400" dirty="0">
                <a:solidFill>
                  <a:srgbClr val="1A1A2E"/>
                </a:solidFill>
              </a:rPr>
              <a:t> for brazilian pre-salt carbonate reservoirs</a:t>
            </a:r>
            <a:endParaRPr sz="1400" dirty="0">
              <a:solidFill>
                <a:srgbClr val="1A1A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</a:rPr>
              <a:t>Our </a:t>
            </a:r>
            <a:r>
              <a:rPr lang="pt-BR" sz="1600" b="1" dirty="0">
                <a:solidFill>
                  <a:srgbClr val="1F3864"/>
                </a:solidFill>
              </a:rPr>
              <a:t>path</a:t>
            </a:r>
            <a:endParaRPr sz="1600" b="1" dirty="0">
              <a:solidFill>
                <a:srgbClr val="1F386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03720" y="3630168"/>
            <a:ext cx="4873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A1A2E"/>
                </a:solidFill>
              </a:rPr>
              <a:t>Apply a general-purpose LLM without any domain-specific fine-tuning.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55555"/>
                </a:solidFill>
                <a:latin typeface="Calibri"/>
              </a:rPr>
              <a:t>Why building domain ontologies remains painfully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Ontologies power Knowledge-Intensive Information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Formal backbone for data models, software applications, retrieval systems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Enterprise ontology projects rely on specialized vocabulary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Vocabulary must be mapped to formal upper-level hierarchies</a:t>
            </a:r>
          </a:p>
          <a:p>
            <a:pPr marL="457200" lvl="1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BFO  →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GeoCore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 →  Domain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NeOn Methodology identifies two bottleneck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Non-Ontological Resource Reuse  — selecting terminology sources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Conceptualization  — clarifying and formalizing semantics</a:t>
            </a:r>
          </a:p>
          <a:p>
            <a:pPr marL="457200" lvl="1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Both require highly specialized experts for extended sessions</a:t>
            </a:r>
          </a:p>
          <a:p>
            <a:pPr marL="457200" lvl="1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Cannot keep pace with the exponential growth of unstructured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3611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Existing approaches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Statistical (TF-IDF): fast but semantically weak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Embedding models (BERT): better, but require labeled data + fine-tuning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Fine-tuned LLMs: shifts the bottleneck, not removes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E75B6"/>
                </a:solidFill>
                <a:latin typeface="Calibri"/>
              </a:rPr>
              <a:t>Our path: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8868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600" b="1" i="0" dirty="0">
                <a:solidFill>
                  <a:srgbClr val="1F3864"/>
                </a:solidFill>
                <a:latin typeface="Calibri"/>
              </a:rPr>
              <a:t>Core Insight &amp; Research Question</a:t>
            </a:r>
            <a:endParaRPr sz="26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353" y="1465653"/>
            <a:ext cx="502920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593" y="1465653"/>
            <a:ext cx="64008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353" y="1081605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What is a Natural Language Definition (NLD)?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353" y="1465653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801" y="1557093"/>
            <a:ext cx="4773168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2E"/>
                </a:solidFill>
                <a:latin typeface="Calibri"/>
              </a:rPr>
              <a:t>A concise, Aristotelian-style definition that clarifies a term's meaning</a:t>
            </a:r>
            <a:r>
              <a:rPr lang="pt-BR" sz="1350" b="0" i="0" dirty="0">
                <a:solidFill>
                  <a:srgbClr val="1A1A2E"/>
                </a:solidFill>
                <a:latin typeface="Calibri"/>
              </a:rPr>
              <a:t>:</a:t>
            </a:r>
            <a:r>
              <a:rPr lang="pt-BR" sz="135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i="0" dirty="0">
                <a:solidFill>
                  <a:srgbClr val="1A1A2E"/>
                </a:solidFill>
                <a:latin typeface="Calibri"/>
              </a:rPr>
              <a:t>"X  is a  Y  that  Z"</a:t>
            </a:r>
            <a:r>
              <a:rPr lang="en-US" sz="1350" b="0" i="0" dirty="0">
                <a:solidFill>
                  <a:srgbClr val="1A1A2E"/>
                </a:solidFill>
                <a:latin typeface="Calibri"/>
              </a:rPr>
              <a:t>
</a:t>
            </a:r>
            <a:r>
              <a:rPr sz="1350" b="0" i="0" dirty="0">
                <a:solidFill>
                  <a:srgbClr val="1A1A2E"/>
                </a:solidFill>
                <a:latin typeface="Calibri"/>
              </a:rPr>
              <a:t>genus (Y) + differentia (Z) — easy to parse for both humans and LLMs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2597" y="1472969"/>
            <a:ext cx="6016752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041" y="1538805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Term:  Coquina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041" y="1813125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and is a key Pre-Salt reservoir rock in Brazil."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353" y="3084141"/>
            <a:ext cx="11365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Key Insight</a:t>
            </a:r>
            <a:r>
              <a:rPr lang="pt-BR" sz="1600" b="1" i="0" dirty="0">
                <a:solidFill>
                  <a:srgbClr val="1F3864"/>
                </a:solidFill>
                <a:latin typeface="Calibri"/>
              </a:rPr>
              <a:t>s from </a:t>
            </a:r>
            <a:r>
              <a:rPr sz="1600" b="1" i="0" dirty="0">
                <a:solidFill>
                  <a:srgbClr val="1F3864"/>
                </a:solidFill>
                <a:latin typeface="Calibri"/>
              </a:rPr>
              <a:t>Lopes Junior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353" y="3468189"/>
            <a:ext cx="3520440" cy="9656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353" y="3468189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513" y="36053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2E"/>
                </a:solidFill>
                <a:latin typeface="Calibri"/>
              </a:rPr>
              <a:t>Language models using NLDs to classify domain entities into top-level ontology concepts achieve &gt;90% macro F1-score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553" y="3468189"/>
            <a:ext cx="3520440" cy="99391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553" y="3468189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713" y="36053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NLDs are the most effective textual representation for ontological classification, even across multilingual settings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473" y="3468189"/>
            <a:ext cx="3520440" cy="100218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473" y="3468189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633" y="36053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No prior work had leveraged this NLD insight for corpus-grounded extraction and formal hierarchy mapping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3EFC83-400A-51FA-8290-9F24537CA6F9}"/>
              </a:ext>
            </a:extLst>
          </p:cNvPr>
          <p:cNvGrpSpPr/>
          <p:nvPr/>
        </p:nvGrpSpPr>
        <p:grpSpPr>
          <a:xfrm>
            <a:off x="443357" y="4826726"/>
            <a:ext cx="11365992" cy="1234440"/>
            <a:chOff x="411480" y="1024128"/>
            <a:chExt cx="11365992" cy="1234440"/>
          </a:xfrm>
        </p:grpSpPr>
        <p:sp>
          <p:nvSpPr>
            <p:cNvPr id="42" name="Rectangle 41"/>
            <p:cNvSpPr/>
            <p:nvPr/>
          </p:nvSpPr>
          <p:spPr>
            <a:xfrm>
              <a:off x="411480" y="1024128"/>
              <a:ext cx="11365992" cy="1234440"/>
            </a:xfrm>
            <a:prstGeom prst="rect">
              <a:avLst/>
            </a:prstGeom>
            <a:solidFill>
              <a:srgbClr val="D6E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1480" y="1024128"/>
              <a:ext cx="73152" cy="123444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4360" y="1133856"/>
              <a:ext cx="1100023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 dirty="0">
                  <a:solidFill>
                    <a:srgbClr val="1F3864"/>
                  </a:solidFill>
                  <a:latin typeface="Calibri"/>
                </a:rPr>
                <a:t>Can a non-specialist LLM produce </a:t>
              </a:r>
              <a:r>
                <a:rPr lang="en-US" sz="1800" b="1" i="0" dirty="0">
                  <a:solidFill>
                    <a:srgbClr val="1F3864"/>
                  </a:solidFill>
                  <a:latin typeface="Calibri"/>
                </a:rPr>
                <a:t>semantically </a:t>
              </a:r>
              <a:r>
                <a:rPr sz="1800" b="1" i="0" dirty="0">
                  <a:solidFill>
                    <a:srgbClr val="1F3864"/>
                  </a:solidFill>
                  <a:latin typeface="Calibri"/>
                </a:rPr>
                <a:t>precise ontological artifacts — term extraction and taxonomic categorization into formal hierarchies — to bootstrap ontology construction, without fine-tuning</a:t>
              </a:r>
              <a:r>
                <a:rPr lang="pt-BR" sz="1800" b="1" i="0" dirty="0">
                  <a:solidFill>
                    <a:srgbClr val="1F3864"/>
                  </a:solidFill>
                  <a:latin typeface="Calibri"/>
                </a:rPr>
                <a:t> by leveragind NLDs?</a:t>
              </a:r>
              <a:endParaRPr sz="1800" b="1" i="0" dirty="0">
                <a:solidFill>
                  <a:srgbClr val="1F3864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600" b="1" i="0" dirty="0">
                <a:solidFill>
                  <a:srgbClr val="1F3864"/>
                </a:solidFill>
                <a:latin typeface="Calibri"/>
              </a:rPr>
              <a:t>Experiment</a:t>
            </a:r>
            <a:r>
              <a:rPr sz="2600" b="1" i="0" dirty="0">
                <a:solidFill>
                  <a:srgbClr val="1F3864"/>
                </a:solidFill>
                <a:latin typeface="Calibri"/>
              </a:rPr>
              <a:t>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2395728"/>
            <a:ext cx="234086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A1A2E"/>
                </a:solidFill>
                <a:latin typeface="Calibri"/>
              </a:rPr>
              <a:t>40 peer-reviewed Pre-Salt articles
Curated by senior domain specialist
Automatic text extraction (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pdftotext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7540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6140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140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4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527048"/>
            <a:ext cx="23774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1F3864"/>
                </a:solidFill>
                <a:latin typeface="Calibri"/>
              </a:rPr>
              <a:t>Term Acquisition
(4 </a:t>
            </a:r>
            <a:r>
              <a:rPr lang="pt-BR" sz="1500" b="1" i="0" dirty="0">
                <a:solidFill>
                  <a:srgbClr val="1F3864"/>
                </a:solidFill>
                <a:latin typeface="Calibri"/>
              </a:rPr>
              <a:t>distinct p</a:t>
            </a:r>
            <a:r>
              <a:rPr sz="1500" b="1" i="0" dirty="0" err="1">
                <a:solidFill>
                  <a:srgbClr val="1F3864"/>
                </a:solidFill>
                <a:latin typeface="Calibri"/>
              </a:rPr>
              <a:t>ipelines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95728"/>
            <a:ext cx="234086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A1A2E"/>
                </a:solidFill>
                <a:latin typeface="Calibri"/>
              </a:rPr>
              <a:t>LLM + Corpus (extractive)
LLM Generated (zero-shot)
NER + Corpus (hybrid)
TF-IDF (baseline)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3892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492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1527048"/>
            <a:ext cx="2377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1F3864"/>
                </a:solidFill>
                <a:latin typeface="Calibri"/>
              </a:rPr>
              <a:t>NLD-Centric
Classification</a:t>
            </a:r>
            <a:endParaRPr lang="pt-BR" sz="1500" b="1" i="0" dirty="0">
              <a:solidFill>
                <a:srgbClr val="1F3864"/>
              </a:solidFill>
              <a:latin typeface="Calibri"/>
            </a:endParaRPr>
          </a:p>
          <a:p>
            <a:pPr algn="ctr"/>
            <a:r>
              <a:rPr lang="en-US" sz="1500" b="1" dirty="0">
                <a:solidFill>
                  <a:srgbClr val="1F3864"/>
                </a:solidFill>
                <a:latin typeface="Calibri"/>
              </a:rPr>
              <a:t>(for each distinct pipeline)</a:t>
            </a:r>
            <a:endParaRPr sz="15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2220" y="2395728"/>
            <a:ext cx="234086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A1A2E"/>
                </a:solidFill>
                <a:latin typeface="Calibri"/>
              </a:rPr>
              <a:t>LLM generates Aristotelian NLD
Chain-of-Thought categorization
BFO →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GeoCore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GeoReservoir</a:t>
            </a:r>
            <a:endParaRPr sz="13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10244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844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8844" y="1115568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8844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284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572" y="2395728"/>
            <a:ext cx="234086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A1A2E"/>
                </a:solidFill>
                <a:latin typeface="Calibri"/>
              </a:rPr>
              <a:t>5 domain experts (PhD + MSc)
Term Relevance, NLD Accuracy,</a:t>
            </a:r>
            <a:r>
              <a:rPr lang="pt-BR"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Category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1F3864"/>
                </a:solidFill>
                <a:latin typeface="Calibri"/>
              </a:rPr>
              <a:t>Phase 2: </a:t>
            </a:r>
            <a:r>
              <a:rPr sz="2600" b="1" i="0" dirty="0">
                <a:solidFill>
                  <a:srgbClr val="1F3864"/>
                </a:solidFill>
                <a:latin typeface="Calibri"/>
              </a:rPr>
              <a:t>The Four Term Extraction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074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</a:t>
            </a:r>
            <a:r>
              <a:rPr lang="pt-BR" sz="1350" b="0" i="0" dirty="0">
                <a:solidFill>
                  <a:srgbClr val="1A1A2E"/>
                </a:solidFill>
                <a:latin typeface="Calibri"/>
              </a:rPr>
              <a:t> of terms.</a:t>
            </a:r>
            <a:endParaRPr sz="135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076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5074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2E"/>
                </a:solidFill>
                <a:latin typeface="Calibri"/>
              </a:rPr>
              <a:t>Hybrid / cross-lingual: XLM-</a:t>
            </a:r>
            <a:r>
              <a:rPr sz="1350" b="0" i="0" dirty="0" err="1">
                <a:solidFill>
                  <a:srgbClr val="1A1A2E"/>
                </a:solidFill>
                <a:latin typeface="Calibri"/>
              </a:rPr>
              <a:t>RoBERTa</a:t>
            </a:r>
            <a:r>
              <a:rPr sz="1350" b="0" i="0" dirty="0">
                <a:solidFill>
                  <a:srgbClr val="1A1A2E"/>
                </a:solidFill>
                <a:latin typeface="Calibri"/>
              </a:rPr>
              <a:t> Large fine-tuned on </a:t>
            </a:r>
            <a:r>
              <a:rPr sz="1350" b="0" i="0" dirty="0" err="1">
                <a:solidFill>
                  <a:srgbClr val="1A1A2E"/>
                </a:solidFill>
                <a:latin typeface="Calibri"/>
              </a:rPr>
              <a:t>PetroGeoNER</a:t>
            </a:r>
            <a:r>
              <a:rPr sz="1350" b="0" i="0" dirty="0">
                <a:solidFill>
                  <a:srgbClr val="1A1A2E"/>
                </a:solidFill>
                <a:latin typeface="Calibri"/>
              </a:rPr>
              <a:t> corpus extracts terms + NER labels.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Statistical baseline: Term Frequency–Inverse Document Frequency on the 40-article corpus.
Replicates traditional frequency-based methodology (Garcia et al., 2020).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" y="1069848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LLM role: "Senior geoscientist + ontology engineer"
Aristotelian-style definition for each term:
"X is a Y that Z"
Concise, technically clear, canonical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855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8556" y="1069848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71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Chain-of-Thought prompt: LLM analyzes
term + NLD together
Assigns most specific category possible
Fallback hierarchy:
GeoReservoir  →  GeoCore  →  BFO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40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187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1876" y="1069848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03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Formally instantiated into
multi-layered hierarchy:
BFO → GeoCore → GeoReservoir
Expert-validated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Examples from the Pre-Salt corpus: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4059936"/>
            <a:ext cx="3636264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Term:  Coquina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60"/>
            <a:ext cx="345338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i="1" dirty="0">
                <a:solidFill>
                  <a:srgbClr val="1A1A2E"/>
                </a:solidFill>
              </a:rPr>
              <a:t>“Coquina is a carbonate rock that is predominantly composed of poorly cemented, sand- to gravel-sized skeletal fragments, primarily bivalve shells, formed in lacustrine environments during the rift phase of the Brazilian Pre-Salt petroleum system.”</a:t>
            </a:r>
            <a:endParaRPr sz="1150" b="0" i="1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5751576"/>
            <a:ext cx="345338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GeoReservoir:SedimentaryRock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344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6344" y="4059936"/>
            <a:ext cx="36362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6072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Term:  Diagenesis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4480560"/>
            <a:ext cx="3453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1" dirty="0">
                <a:solidFill>
                  <a:srgbClr val="1A1A2E"/>
                </a:solidFill>
                <a:latin typeface="Calibri"/>
              </a:rPr>
              <a:t>“</a:t>
            </a:r>
            <a:r>
              <a:rPr lang="en-US" sz="900" i="1" dirty="0">
                <a:solidFill>
                  <a:srgbClr val="1A1A2E"/>
                </a:solidFill>
              </a:rPr>
              <a:t>Diagenesis is the sum of all physical, chemical, and biological processes that alter a sediment after its initial deposition and throughout its burial history, exclusive of weathering and metamorphism. In the lacustrine carbonates of the Brazilian Pre-Salt, these processes are the primary control on reservoir quality, with burial-related dissolution by CO2-rich fluids being the dominant mechanism for generating the extensive secondary porosity that characterizes these prolific reservoirs.”</a:t>
            </a:r>
            <a:endParaRPr sz="900" b="0" i="1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67784" y="5751576"/>
            <a:ext cx="3453384" cy="3108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GeoCore:GeologicalProcess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1208" y="4059936"/>
            <a:ext cx="3636264" cy="54864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0936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  <a:latin typeface="Calibri"/>
              </a:rPr>
              <a:t>Term:  Porosity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936" y="4480560"/>
            <a:ext cx="3453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0" i="1" dirty="0">
                <a:solidFill>
                  <a:srgbClr val="1A1A2E"/>
                </a:solidFill>
                <a:latin typeface="Calibri"/>
              </a:rPr>
              <a:t>“</a:t>
            </a:r>
            <a:r>
              <a:rPr lang="en-US" sz="900" i="1" dirty="0">
                <a:solidFill>
                  <a:srgbClr val="1A1A2E"/>
                </a:solidFill>
              </a:rPr>
              <a:t>Porosity is a fundamental petrophysical property of a reservoir rock that quantifies the fraction of the total rock volume occupied by void spaces, known as pores. In the context of Brazilian Pre-Salt carbonates, this pore system comprises a complex network of interparticle, intraparticle, vuggy, and </a:t>
            </a:r>
            <a:r>
              <a:rPr lang="en-US" sz="900" i="1" dirty="0" err="1">
                <a:solidFill>
                  <a:srgbClr val="1A1A2E"/>
                </a:solidFill>
              </a:rPr>
              <a:t>moldic</a:t>
            </a:r>
            <a:r>
              <a:rPr lang="en-US" sz="900" i="1" dirty="0">
                <a:solidFill>
                  <a:srgbClr val="1A1A2E"/>
                </a:solidFill>
              </a:rPr>
              <a:t> voids that provides the storage capacity for hydrocarbons. The effective porosity, which represents the interconnected pore volume, is a critical parameter for estimating reserves and predicting reservoir performance.”</a:t>
            </a:r>
            <a:endParaRPr sz="900" b="0" i="1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232648" y="5751576"/>
            <a:ext cx="3453384" cy="3108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8368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BFO:Quality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PhD &amp; MSc holders — up to 20 years experience
Industry + Academia (Brazilian Pre-Salt)
Provided 100 reference terms before extraction (20 each)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24128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024128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1155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99616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100 top-ranked terms/pipeline × 4 pipelines = 400 entries
Combined, anonymized, and randomized into a single list
Blind: evaluators did not know which pipeline produced each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dirty="0">
                <a:solidFill>
                  <a:srgbClr val="2E75B6"/>
                </a:solidFill>
                <a:latin typeface="Calibri"/>
              </a:rPr>
              <a:t>Proposed </a:t>
            </a:r>
            <a:r>
              <a:rPr sz="1500" b="1" i="0" dirty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2461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Relevant / Irrelevant / Invalid / Unknown
</a:t>
            </a:r>
            <a:endParaRPr lang="pt-BR" sz="1300" b="0" i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Same specialists who provided reference terms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87952" y="2944368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306324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dirty="0">
                <a:solidFill>
                  <a:srgbClr val="ED7D31"/>
                </a:solidFill>
                <a:latin typeface="Calibri"/>
              </a:rPr>
              <a:t>Assigned </a:t>
            </a:r>
            <a:r>
              <a:rPr sz="1500" b="1" i="0" dirty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Correct / Partially Correct / Incorrect
Ambiguous / Wrong Context /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64424" y="2944368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dirty="0">
                <a:solidFill>
                  <a:srgbClr val="1E8855"/>
                </a:solidFill>
                <a:latin typeface="Calibri"/>
              </a:rPr>
              <a:t>Assigned </a:t>
            </a:r>
            <a:r>
              <a:rPr sz="1500" b="1" i="0" dirty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767328"/>
            <a:ext cx="324612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Correct &amp; Specific / Correct but Unspecific
Incorrect / Unknown
</a:t>
            </a:r>
            <a:endParaRPr lang="pt-BR" sz="1300" b="0" i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Captures both accuracy and ontological depth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115568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52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11521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72768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736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572768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664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1572768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299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121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299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0299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2121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4871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871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871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944368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873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944368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0468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2944368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59168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11556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1115568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73768" y="122529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Highest recall AND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98424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198424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73768" y="209397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Corpus mitigates LLM "domain blindness"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85292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2852928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296265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46% irrelevant noise — semantically blind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372160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3721608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73768" y="383133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Decent recall, but 33 'Mixed Feelings'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11480" y="3700000"/>
          <a:ext cx="8800000" cy="2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99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5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59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9656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836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1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5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7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1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03704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267712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599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1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1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59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587752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5176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1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5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7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1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059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97180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03580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599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3171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5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7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1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34930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LLM-Generated leads on NLD accuracy — canonical terms have robust internal definitions.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102412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435608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1481328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49640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9448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3536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9256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3344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9064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1819656"/>
            <a:ext cx="2331720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1874520"/>
            <a:ext cx="226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A1A2E"/>
                </a:solidFill>
                <a:latin typeface="Calibri"/>
              </a:rPr>
              <a:t>Majority Correct 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819656"/>
            <a:ext cx="749808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9640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1819656"/>
            <a:ext cx="749808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819656"/>
            <a:ext cx="749808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49256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3344" y="1819656"/>
            <a:ext cx="749808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799064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2203704"/>
            <a:ext cx="2331720" cy="384048"/>
          </a:xfrm>
          <a:prstGeom prst="rect">
            <a:avLst/>
          </a:prstGeom>
          <a:solidFill>
            <a:srgbClr val="FFFF9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2258568"/>
            <a:ext cx="226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A1A2E"/>
                </a:solidFill>
                <a:latin typeface="Calibri"/>
              </a:rPr>
              <a:t>Majority Partial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2203704"/>
            <a:ext cx="749808" cy="384048"/>
          </a:xfrm>
          <a:prstGeom prst="rect">
            <a:avLst/>
          </a:prstGeom>
          <a:solidFill>
            <a:srgbClr val="FFFF9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9640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53728" y="2203704"/>
            <a:ext cx="749808" cy="384048"/>
          </a:xfrm>
          <a:prstGeom prst="rect">
            <a:avLst/>
          </a:prstGeom>
          <a:solidFill>
            <a:srgbClr val="FFFF9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99448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03536" y="2203704"/>
            <a:ext cx="749808" cy="384048"/>
          </a:xfrm>
          <a:prstGeom prst="rect">
            <a:avLst/>
          </a:prstGeom>
          <a:solidFill>
            <a:srgbClr val="FFFF9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49256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3344" y="2203704"/>
            <a:ext cx="749808" cy="384048"/>
          </a:xfrm>
          <a:prstGeom prst="rect">
            <a:avLst/>
          </a:prstGeom>
          <a:solidFill>
            <a:srgbClr val="FFFF9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99064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2642616"/>
            <a:ext cx="226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A1A2E"/>
                </a:solidFill>
                <a:latin typeface="Calibri"/>
              </a:rPr>
              <a:t>Disputed / Rejected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9640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3728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299448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3536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49256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53344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9" name="TextBox 98"/>
          <p:cNvSpPr txBox="1"/>
          <p:nvPr/>
        </p:nvSpPr>
        <p:spPr>
          <a:xfrm>
            <a:off x="10799064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solidFill>
            <a:srgbClr val="DCF4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19" y="3026664"/>
            <a:ext cx="22860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1A2E"/>
                </a:solidFill>
                <a:latin typeface="Calibri"/>
              </a:rPr>
              <a:t>Strict Consensus</a:t>
            </a:r>
            <a:r>
              <a:rPr lang="pt-BR" sz="1100" b="1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A1A2E"/>
                </a:solidFill>
                <a:latin typeface="Calibri"/>
              </a:rPr>
              <a:t>(Correct &amp; Specific)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2971800"/>
            <a:ext cx="749808" cy="384048"/>
          </a:xfrm>
          <a:prstGeom prst="rect">
            <a:avLst/>
          </a:prstGeom>
          <a:solidFill>
            <a:srgbClr val="DCF4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49640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E8855"/>
                </a:solidFill>
                <a:latin typeface="Calibri"/>
              </a:rPr>
              <a:t>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53728" y="2971800"/>
            <a:ext cx="749808" cy="384048"/>
          </a:xfrm>
          <a:prstGeom prst="rect">
            <a:avLst/>
          </a:prstGeom>
          <a:solidFill>
            <a:srgbClr val="DCF4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99448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43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03536" y="2971800"/>
            <a:ext cx="749808" cy="384048"/>
          </a:xfrm>
          <a:prstGeom prst="rect">
            <a:avLst/>
          </a:prstGeom>
          <a:solidFill>
            <a:srgbClr val="DCF4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049256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53344" y="2971800"/>
            <a:ext cx="749808" cy="384048"/>
          </a:xfrm>
          <a:prstGeom prst="rect">
            <a:avLst/>
          </a:prstGeom>
          <a:solidFill>
            <a:srgbClr val="DCF4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799064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493008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72200" y="3493008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3584448"/>
            <a:ext cx="53309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1F3864"/>
                </a:solidFill>
              </a:rPr>
              <a:t>LLM+Corpus</a:t>
            </a:r>
            <a:r>
              <a:rPr lang="en-US" sz="1200" dirty="0">
                <a:solidFill>
                  <a:srgbClr val="1F3864"/>
                </a:solidFill>
              </a:rPr>
              <a:t>: highest overall accuracy (71%) + lowest rejection (18%).
Corpus acts as a decisive 'validity filter' for extracted terms.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411480" y="4100000"/>
          <a:ext cx="5200000" cy="2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5900000" y="4100000"/>
          <a:ext cx="5900000" cy="2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55555"/>
                </a:solidFill>
                <a:latin typeface="Calibri"/>
              </a:rPr>
              <a:t>Expert-validated preliminary domain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taxonom</a:t>
            </a:r>
            <a:r>
              <a:rPr lang="pt-BR" sz="1300" b="0" i="1" dirty="0">
                <a:solidFill>
                  <a:srgbClr val="555555"/>
                </a:solidFill>
                <a:latin typeface="Calibri"/>
              </a:rPr>
              <a:t>y</a:t>
            </a:r>
            <a:endParaRPr sz="13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572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Terms with unanimous expert consensus (Relevant + Correct &amp; Specific)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Formally placed in BFO →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GeoCore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GeoReservoir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hierarchy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Not yet axiomatized</a:t>
            </a:r>
            <a:r>
              <a:rPr lang="pt-BR" sz="1400" b="0" dirty="0">
                <a:solidFill>
                  <a:srgbClr val="1A1A2E"/>
                </a:solidFill>
                <a:latin typeface="Calibri"/>
              </a:rPr>
              <a:t>, no relations</a:t>
            </a:r>
            <a:endParaRPr lang="en-US" sz="1400" b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0156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01568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498848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9612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5596128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41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01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pic>
        <p:nvPicPr>
          <p:cNvPr id="53" name="Picture 52" descr="The image appears to be a visual representation of various geological and architectural elements, including contact positions, types, entities, continuants, spatial regions, and materials such as rock, mineral, and fluid, organized in a structured and hierarchical manner.&#10;&#10;AI-generated content may be incorrect.">
            <a:extLst>
              <a:ext uri="{FF2B5EF4-FFF2-40B4-BE49-F238E27FC236}">
                <a16:creationId xmlns:a16="http://schemas.microsoft.com/office/drawing/2014/main" id="{F7C2C381-3181-927F-4B55-D183DF31A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702183"/>
            <a:ext cx="6562725" cy="5810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F3864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4AAD2E-8511-D4AF-BC7F-54617F10CB68}"/>
              </a:ext>
            </a:extLst>
          </p:cNvPr>
          <p:cNvGrpSpPr/>
          <p:nvPr/>
        </p:nvGrpSpPr>
        <p:grpSpPr>
          <a:xfrm>
            <a:off x="1735183" y="1085523"/>
            <a:ext cx="3617976" cy="3749039"/>
            <a:chOff x="1382485" y="1057306"/>
            <a:chExt cx="3617976" cy="3749039"/>
          </a:xfrm>
        </p:grpSpPr>
        <p:sp>
          <p:nvSpPr>
            <p:cNvPr id="8" name="Rectangle 7"/>
            <p:cNvSpPr/>
            <p:nvPr/>
          </p:nvSpPr>
          <p:spPr>
            <a:xfrm>
              <a:off x="1382485" y="1057306"/>
              <a:ext cx="3617976" cy="3749039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82485" y="1057306"/>
              <a:ext cx="3617976" cy="64008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92213" y="1167034"/>
              <a:ext cx="3398520" cy="384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C0392B"/>
                  </a:solidFill>
                  <a:latin typeface="Calibri"/>
                </a:rPr>
                <a:t>Context Blindness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73925" y="1605946"/>
              <a:ext cx="3435096" cy="5486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92213" y="1715674"/>
              <a:ext cx="339852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0" i="1">
                  <a:solidFill>
                    <a:srgbClr val="1A1A2E"/>
                  </a:solidFill>
                  <a:latin typeface="Calibri"/>
                </a:rPr>
                <a:t>NLDs generated without source context → generic / outdated definitions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92213" y="2291746"/>
              <a:ext cx="339852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• </a:t>
              </a:r>
              <a:r>
                <a:rPr sz="1200" b="0" i="0" dirty="0" err="1">
                  <a:solidFill>
                    <a:srgbClr val="1A1A2E"/>
                  </a:solidFill>
                  <a:latin typeface="Calibri"/>
                </a:rPr>
                <a:t>LLM+Corpus</a:t>
              </a:r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: 34% 'Partially Correct' NLDs despite best term quality
• Outdated paradigms propagated (e.g., homogeneous microbial origin of Pre-Salt carbonates)</a:t>
              </a:r>
              <a:r>
                <a:rPr lang="pt-BR" sz="1200" dirty="0">
                  <a:solidFill>
                    <a:srgbClr val="1A1A2E"/>
                  </a:solidFill>
                  <a:latin typeface="Calibri"/>
                </a:rPr>
                <a:t>; pointed by experts</a:t>
              </a:r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
→ Fix: provide relevant corpus passages at NLD generation time (RAG)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1AD595-DFCA-810A-5578-E1B78A73CB25}"/>
              </a:ext>
            </a:extLst>
          </p:cNvPr>
          <p:cNvGrpSpPr/>
          <p:nvPr/>
        </p:nvGrpSpPr>
        <p:grpSpPr>
          <a:xfrm>
            <a:off x="6571488" y="1086871"/>
            <a:ext cx="4058526" cy="3749039"/>
            <a:chOff x="7063522" y="1085523"/>
            <a:chExt cx="4058526" cy="3749039"/>
          </a:xfrm>
        </p:grpSpPr>
        <p:sp>
          <p:nvSpPr>
            <p:cNvPr id="14" name="Rectangle 13"/>
            <p:cNvSpPr/>
            <p:nvPr/>
          </p:nvSpPr>
          <p:spPr>
            <a:xfrm>
              <a:off x="7063522" y="1085523"/>
              <a:ext cx="3909278" cy="3749039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63522" y="1085523"/>
              <a:ext cx="3909278" cy="64008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73249" y="1195251"/>
              <a:ext cx="39487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ED7D31"/>
                  </a:solidFill>
                  <a:latin typeface="Calibri"/>
                </a:rPr>
                <a:t>Ambiguity — Not-Strict Consensus Gap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54961" y="1634163"/>
              <a:ext cx="3711673" cy="54864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73250" y="1743891"/>
              <a:ext cx="367215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0" i="1">
                  <a:solidFill>
                    <a:srgbClr val="1A1A2E"/>
                  </a:solidFill>
                  <a:latin typeface="Calibri"/>
                </a:rPr>
                <a:t>Expert disagreement on complex real-world terms reveals categorization limits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73250" y="2319963"/>
              <a:ext cx="367215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• </a:t>
              </a:r>
              <a:r>
                <a:rPr sz="1200" b="0" i="0" dirty="0" err="1">
                  <a:solidFill>
                    <a:srgbClr val="1A1A2E"/>
                  </a:solidFill>
                  <a:latin typeface="Calibri"/>
                </a:rPr>
                <a:t>LLM+Corpus</a:t>
              </a:r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: 39 Strict vs 32 Majority-only correct (categorization)
• LLM's reasoning potential constrained by lack of domain grounding
• Real terms extracted from reports are inherently more ambiguous
→ Fix: source context in NLD phase expected to elevate majority → strict consensus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11480" y="5047487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47487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138927"/>
            <a:ext cx="11045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1F3864"/>
                </a:solidFill>
                <a:latin typeface="Calibri"/>
              </a:rPr>
              <a:t>Both problems point to the same architectural fix: Retrieval-Augmented Generation (RAG) in the NLD generation phase to improve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>
                <a:solidFill>
                  <a:srgbClr val="1F3864"/>
                </a:solidFill>
                <a:latin typeface="Calibri"/>
              </a:rPr>
              <a:t>Conclusion</a:t>
            </a:r>
            <a:r>
              <a:rPr lang="pt-BR" sz="2600" b="1" i="0" dirty="0">
                <a:solidFill>
                  <a:srgbClr val="1F3864"/>
                </a:solidFill>
                <a:latin typeface="Calibri"/>
              </a:rPr>
              <a:t> &amp; </a:t>
            </a:r>
            <a:r>
              <a:rPr lang="en-US" sz="2600" b="1" dirty="0">
                <a:solidFill>
                  <a:srgbClr val="1F3864"/>
                </a:solidFill>
              </a:rPr>
              <a:t>Ongoing Work </a:t>
            </a:r>
            <a:endParaRPr sz="26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14277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i="0" dirty="0">
                <a:solidFill>
                  <a:srgbClr val="1F3864"/>
                </a:solidFill>
                <a:latin typeface="Calibri"/>
              </a:rPr>
              <a:t>Ongoing work</a:t>
            </a:r>
            <a:endParaRPr sz="16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91072" y="1599974"/>
            <a:ext cx="5486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lang="pt-BR" sz="1400" b="0" dirty="0">
                <a:solidFill>
                  <a:srgbClr val="1A1A2E"/>
                </a:solidFill>
                <a:latin typeface="Calibri"/>
              </a:rPr>
              <a:t>RAG implementation grounded on domain corpus for NLD step</a:t>
            </a:r>
            <a:endParaRPr sz="1400" b="0" dirty="0">
              <a:solidFill>
                <a:srgbClr val="1A1A2E"/>
              </a:solidFill>
              <a:latin typeface="Calibri"/>
            </a:endParaRPr>
          </a:p>
          <a:p>
            <a:pPr marL="685800" lvl="1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NLD generation grounded in source corpus passages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Expanded corpus: 80 papers (2× the preliminary experiment)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Ablation study: 4 conditions — Full RAG / No RAG / No NLD / Raw RAG</a:t>
            </a:r>
            <a:endParaRPr lang="pt-BR" sz="1400" b="0" dirty="0">
              <a:solidFill>
                <a:srgbClr val="1A1A2E"/>
              </a:solidFill>
              <a:latin typeface="Calibri"/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/>
              </a:rPr>
              <a:t>Improved s</a:t>
            </a:r>
            <a:r>
              <a:rPr lang="en-US" sz="1400" b="0" dirty="0">
                <a:solidFill>
                  <a:srgbClr val="1A1A2E"/>
                </a:solidFill>
                <a:latin typeface="Calibri"/>
              </a:rPr>
              <a:t>tatistical analysis: category migration analysis, difference between conditions results (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Cochran’s Q test), cross-condition agreement</a:t>
            </a:r>
            <a:endParaRPr sz="1400" b="0" dirty="0">
              <a:solidFill>
                <a:srgbClr val="1A1A2E"/>
              </a:solidFill>
              <a:latin typeface="Calibri"/>
            </a:endParaRP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OWL export: complete taxonomy → </a:t>
            </a:r>
            <a:r>
              <a:rPr lang="pt-BR" sz="1400" b="0" dirty="0">
                <a:solidFill>
                  <a:srgbClr val="1A1A2E"/>
                </a:solidFill>
                <a:latin typeface="Calibri"/>
              </a:rPr>
              <a:t>.owl generation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/>
              </a:rPr>
              <a:t>Relations?</a:t>
            </a:r>
            <a:endParaRPr sz="1400" b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1480" y="589788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934456"/>
            <a:ext cx="11365992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F3864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github.com/BDI-UFRGS/PreSaltOntology  ·  Funded by CAPES, CNPq, Petrobras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3FC66A0-6509-6B31-17AF-A5032E681F6F}"/>
              </a:ext>
            </a:extLst>
          </p:cNvPr>
          <p:cNvGrpSpPr/>
          <p:nvPr/>
        </p:nvGrpSpPr>
        <p:grpSpPr>
          <a:xfrm>
            <a:off x="411480" y="1098151"/>
            <a:ext cx="5513832" cy="4352544"/>
            <a:chOff x="6263640" y="1024128"/>
            <a:chExt cx="5513832" cy="435254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6632812-CDA8-27E4-0A7D-863E2AE97914}"/>
                </a:ext>
              </a:extLst>
            </p:cNvPr>
            <p:cNvSpPr txBox="1"/>
            <p:nvPr/>
          </p:nvSpPr>
          <p:spPr>
            <a:xfrm>
              <a:off x="6263640" y="1024128"/>
              <a:ext cx="5513832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F3864"/>
                  </a:solidFill>
                  <a:latin typeface="Calibri"/>
                </a:rPr>
                <a:t>Conclusions from this paper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B2168F-B87D-D0FF-A19D-7C799909BEBE}"/>
                </a:ext>
              </a:extLst>
            </p:cNvPr>
            <p:cNvSpPr/>
            <p:nvPr/>
          </p:nvSpPr>
          <p:spPr>
            <a:xfrm>
              <a:off x="6263640" y="1481328"/>
              <a:ext cx="5513832" cy="676656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2AAB9D7-C210-44AA-9D75-F9E5895680FE}"/>
                </a:ext>
              </a:extLst>
            </p:cNvPr>
            <p:cNvSpPr/>
            <p:nvPr/>
          </p:nvSpPr>
          <p:spPr>
            <a:xfrm>
              <a:off x="6263640" y="1481328"/>
              <a:ext cx="64008" cy="676656"/>
            </a:xfrm>
            <a:prstGeom prst="rect">
              <a:avLst/>
            </a:prstGeom>
            <a:solidFill>
              <a:srgbClr val="1E88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B81623-2019-A6EF-CDC8-868664C41DB8}"/>
                </a:ext>
              </a:extLst>
            </p:cNvPr>
            <p:cNvSpPr txBox="1"/>
            <p:nvPr/>
          </p:nvSpPr>
          <p:spPr>
            <a:xfrm>
              <a:off x="6428232" y="1572768"/>
              <a:ext cx="52578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/>
                <a:t>Term Relevance: LLM-based methods reached very high consensus relevance (over 96%), whereas statistical methods often failed to separate critical domain concepts from noise.</a:t>
              </a:r>
              <a:endParaRPr sz="1100" dirty="0">
                <a:solidFill>
                  <a:srgbClr val="1A1A2E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8536605-7831-DE28-1135-B2582CDA1C26}"/>
                </a:ext>
              </a:extLst>
            </p:cNvPr>
            <p:cNvSpPr/>
            <p:nvPr/>
          </p:nvSpPr>
          <p:spPr>
            <a:xfrm>
              <a:off x="6263640" y="2286000"/>
              <a:ext cx="5513832" cy="676656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9B6A3BD-EC96-13E8-3C48-4154E1B9D268}"/>
                </a:ext>
              </a:extLst>
            </p:cNvPr>
            <p:cNvSpPr/>
            <p:nvPr/>
          </p:nvSpPr>
          <p:spPr>
            <a:xfrm>
              <a:off x="6263640" y="2286000"/>
              <a:ext cx="64008" cy="676656"/>
            </a:xfrm>
            <a:prstGeom prst="rect">
              <a:avLst/>
            </a:prstGeom>
            <a:solidFill>
              <a:srgbClr val="1E88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79A0A8B-45A6-740B-C939-FB1ABF5BE3CC}"/>
                </a:ext>
              </a:extLst>
            </p:cNvPr>
            <p:cNvSpPr txBox="1"/>
            <p:nvPr/>
          </p:nvSpPr>
          <p:spPr>
            <a:xfrm>
              <a:off x="6428232" y="2377440"/>
              <a:ext cx="52578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/>
                <a:t>The LLM-Generated pipeline (zero-shot) provided more accurate definitions, probably relying on "internal coherence" and canonical concepts the model already "knew“.</a:t>
              </a:r>
              <a:endParaRPr sz="1050" dirty="0">
                <a:solidFill>
                  <a:srgbClr val="1A1A2E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E43D4B-E092-29B0-8DD6-377868651AB3}"/>
                </a:ext>
              </a:extLst>
            </p:cNvPr>
            <p:cNvSpPr/>
            <p:nvPr/>
          </p:nvSpPr>
          <p:spPr>
            <a:xfrm>
              <a:off x="6263640" y="3090672"/>
              <a:ext cx="5513832" cy="676656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4543B09-DEC9-0E9B-C4FB-12DB52C79AB1}"/>
                </a:ext>
              </a:extLst>
            </p:cNvPr>
            <p:cNvSpPr/>
            <p:nvPr/>
          </p:nvSpPr>
          <p:spPr>
            <a:xfrm>
              <a:off x="6263640" y="3090672"/>
              <a:ext cx="64008" cy="676656"/>
            </a:xfrm>
            <a:prstGeom prst="rect">
              <a:avLst/>
            </a:prstGeom>
            <a:solidFill>
              <a:srgbClr val="1E88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85165E-5A32-22F1-5F1B-DB3E61804BA2}"/>
                </a:ext>
              </a:extLst>
            </p:cNvPr>
            <p:cNvSpPr txBox="1"/>
            <p:nvPr/>
          </p:nvSpPr>
          <p:spPr>
            <a:xfrm>
              <a:off x="6428232" y="3182112"/>
              <a:ext cx="52578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/>
                <a:t>However, the LLM + Corpus pipeline extracted more relevant, real-world terms, even though its definitions were sometimes less precise due to "context blindness".</a:t>
              </a:r>
              <a:endParaRPr sz="1100" i="0" dirty="0">
                <a:solidFill>
                  <a:srgbClr val="1A1A2E"/>
                </a:solidFill>
                <a:latin typeface="Calibri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4280693-7B70-652B-397F-D8030822DF72}"/>
                </a:ext>
              </a:extLst>
            </p:cNvPr>
            <p:cNvSpPr/>
            <p:nvPr/>
          </p:nvSpPr>
          <p:spPr>
            <a:xfrm>
              <a:off x="6263640" y="3895344"/>
              <a:ext cx="5513832" cy="676656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CFFDF7-781E-8F51-54D7-5F96B3E639BE}"/>
                </a:ext>
              </a:extLst>
            </p:cNvPr>
            <p:cNvSpPr/>
            <p:nvPr/>
          </p:nvSpPr>
          <p:spPr>
            <a:xfrm>
              <a:off x="6263640" y="3895344"/>
              <a:ext cx="64008" cy="676656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00C8241-A23E-D267-45BF-ABCC7C4392CC}"/>
                </a:ext>
              </a:extLst>
            </p:cNvPr>
            <p:cNvSpPr txBox="1"/>
            <p:nvPr/>
          </p:nvSpPr>
          <p:spPr>
            <a:xfrm>
              <a:off x="6428232" y="4073980"/>
              <a:ext cx="52578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300" b="0" i="0" dirty="0">
                  <a:solidFill>
                    <a:srgbClr val="1A1A2E"/>
                  </a:solidFill>
                  <a:latin typeface="Calibri"/>
                </a:rPr>
                <a:t>Context blindness is the principal remaining bottleneck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7A8C113-4552-A479-1A4A-AF288777FA70}"/>
                </a:ext>
              </a:extLst>
            </p:cNvPr>
            <p:cNvSpPr/>
            <p:nvPr/>
          </p:nvSpPr>
          <p:spPr>
            <a:xfrm>
              <a:off x="6263640" y="4700016"/>
              <a:ext cx="5513832" cy="676656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B089312-C9CB-E61A-CA3C-2258435EA811}"/>
                </a:ext>
              </a:extLst>
            </p:cNvPr>
            <p:cNvSpPr/>
            <p:nvPr/>
          </p:nvSpPr>
          <p:spPr>
            <a:xfrm>
              <a:off x="6263640" y="4700016"/>
              <a:ext cx="64008" cy="676656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3F81C66-A1C6-EB85-E719-B2115F8954DE}"/>
                </a:ext>
              </a:extLst>
            </p:cNvPr>
            <p:cNvSpPr txBox="1"/>
            <p:nvPr/>
          </p:nvSpPr>
          <p:spPr>
            <a:xfrm>
              <a:off x="6428232" y="4791456"/>
              <a:ext cx="52578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Future work should integrate RAG to provide necessary source grounding, resolve ambiguity, and ensure scientific currency.</a:t>
              </a:r>
              <a:endParaRPr lang="en-US" sz="1200" i="0" dirty="0">
                <a:solidFill>
                  <a:srgbClr val="1A1A2E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1953</Words>
  <Application>Microsoft Office PowerPoint</Application>
  <PresentationFormat>Custom</PresentationFormat>
  <Paragraphs>253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Andrade</cp:lastModifiedBy>
  <cp:revision>3</cp:revision>
  <dcterms:created xsi:type="dcterms:W3CDTF">2013-01-27T09:14:16Z</dcterms:created>
  <dcterms:modified xsi:type="dcterms:W3CDTF">2026-05-03T19:16:12Z</dcterms:modified>
  <cp:category/>
</cp:coreProperties>
</file>