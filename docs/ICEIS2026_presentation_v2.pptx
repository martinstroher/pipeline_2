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C15094-8971-4481-9B26-1D1DECD337FD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D134B6-240B-4762-AEC2-1BEE53C3A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48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D134B6-240B-4762-AEC2-1BEE53C3AB5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5036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59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F3864"/>
                </a:solidFill>
                <a:latin typeface="Calibri"/>
              </a:rPr>
              <a:t>LLM-Driven Ontology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920240"/>
            <a:ext cx="113659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E75B6"/>
                </a:solidFill>
                <a:latin typeface="Calibri"/>
              </a:rPr>
              <a:t>From Term Extraction to Upper-Level Categorization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423160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E75B6"/>
                </a:solidFill>
                <a:latin typeface="Calibri"/>
              </a:rPr>
              <a:t>for Building Information System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017520"/>
            <a:ext cx="11365992" cy="2011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3072384"/>
            <a:ext cx="11365992" cy="2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324612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Martin Ströher  ·  Thaís Schäfer Luiz  ·  Eduardo Roemers-Oliveira  ·  Lucas Valadares Vieira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630168"/>
            <a:ext cx="11365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Fábio Herbert Jones  ·  Luiz Fernando De Ros  ·  Mara 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11480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UFRGS  ·  UFRJ  ·  Petrobras Research Center  ·  Colorado State University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94076" y="4846320"/>
            <a:ext cx="6400800" cy="59436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94076" y="4846320"/>
            <a:ext cx="6400800" cy="2011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31236" y="4919472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3864"/>
                </a:solidFill>
                <a:latin typeface="Calibri"/>
              </a:rPr>
              <a:t>ICEIS 2026  —  International Conference on Enterprise Information Systems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9144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Context: The Knowledge Acquisition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599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Why building domain ontologies remains painfully slow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96112"/>
            <a:ext cx="11365992" cy="2011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548640" cy="2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6510528"/>
            <a:ext cx="11365992" cy="2011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24128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Ontologies power Knowledge-Intensive Information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527048"/>
            <a:ext cx="6217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500" b="0">
                <a:solidFill>
                  <a:srgbClr val="1A1A2E"/>
                </a:solidFill>
                <a:latin typeface="Calibri"/>
              </a:rPr>
              <a:t>Formal backbone for data models, software applications, retrieval systems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500" b="0">
                <a:solidFill>
                  <a:srgbClr val="1A1A2E"/>
                </a:solidFill>
                <a:latin typeface="Calibri"/>
              </a:rPr>
              <a:t>Enterprise ontology projects rely on specialized vocabulary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500" b="0">
                <a:solidFill>
                  <a:srgbClr val="1A1A2E"/>
                </a:solidFill>
                <a:latin typeface="Calibri"/>
              </a:rPr>
              <a:t>Vocabulary must be mapped to formal upper-level hierarchies</a:t>
            </a:r>
          </a:p>
          <a:p>
            <a:pPr marL="457200" lvl="1" indent="-182880">
              <a:spcBef>
                <a:spcPts val="100"/>
              </a:spcBef>
              <a:spcAft>
                <a:spcPts val="100"/>
              </a:spcAft>
              <a:buChar char="–"/>
            </a:pPr>
            <a:r>
              <a:rPr sz="1350" b="0">
                <a:solidFill>
                  <a:srgbClr val="1A1A2E"/>
                </a:solidFill>
                <a:latin typeface="Calibri"/>
              </a:rPr>
              <a:t>BFO  →  GeoCore  →  Domain ontology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44368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NeOn Methodology identifies two bottleneck steps: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355848"/>
            <a:ext cx="6217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500" b="0">
                <a:solidFill>
                  <a:srgbClr val="1A1A2E"/>
                </a:solidFill>
                <a:latin typeface="Calibri"/>
              </a:rPr>
              <a:t>Non-Ontological Resource Reuse  — selecting terminology sources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500" b="0">
                <a:solidFill>
                  <a:srgbClr val="1A1A2E"/>
                </a:solidFill>
                <a:latin typeface="Calibri"/>
              </a:rPr>
              <a:t>Conceptualization  — clarifying and formalizing semantics</a:t>
            </a:r>
          </a:p>
          <a:p>
            <a:pPr marL="457200" lvl="1" indent="-182880">
              <a:spcBef>
                <a:spcPts val="100"/>
              </a:spcBef>
              <a:spcAft>
                <a:spcPts val="100"/>
              </a:spcAft>
              <a:buChar char="–"/>
            </a:pPr>
            <a:r>
              <a:rPr sz="1350" b="0">
                <a:solidFill>
                  <a:srgbClr val="1A1A2E"/>
                </a:solidFill>
                <a:latin typeface="Calibri"/>
              </a:rPr>
              <a:t>Both require highly specialized experts for extended sessions</a:t>
            </a:r>
          </a:p>
          <a:p>
            <a:pPr marL="457200" lvl="1" indent="-182880">
              <a:spcBef>
                <a:spcPts val="100"/>
              </a:spcBef>
              <a:spcAft>
                <a:spcPts val="100"/>
              </a:spcAft>
              <a:buChar char="–"/>
            </a:pPr>
            <a:r>
              <a:rPr sz="1350" b="0">
                <a:solidFill>
                  <a:srgbClr val="1A1A2E"/>
                </a:solidFill>
                <a:latin typeface="Calibri"/>
              </a:rPr>
              <a:t>Cannot keep pace with the exponential growth of unstructured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12280" y="932688"/>
            <a:ext cx="5056632" cy="43891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03720" y="1115568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Existing approaches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1527048"/>
            <a:ext cx="48737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Statistical (TF-IDF): fast but semantically weak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Embedding models (BERT): better, but require labeled data + fine-tuning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Fine-tuned LLMs: shifts the bottleneck, not removes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03720" y="3081528"/>
            <a:ext cx="4873752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03720" y="3218688"/>
            <a:ext cx="4873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Our path: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630168"/>
            <a:ext cx="48737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Apply a general-purpose LLM without any domain-specific fine-tuning — more accessible, more generalizable.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9144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Research Question &amp; Core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96112"/>
            <a:ext cx="11365992" cy="2011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896112"/>
            <a:ext cx="548640" cy="2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6510528"/>
            <a:ext cx="11365992" cy="2011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24128"/>
            <a:ext cx="11365992" cy="123444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024128"/>
            <a:ext cx="73152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133856"/>
            <a:ext cx="110002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Can a non-specialist LLM produce semantically precise ontological artifacts — term extraction and taxonomic categorization into formal hierarchies — to bootstrap ontology construction, without fine-tuning?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441448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What is a Natural Language Definition (NLD)?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25496"/>
            <a:ext cx="5029200" cy="1417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2825496"/>
            <a:ext cx="64008" cy="1417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2916936"/>
            <a:ext cx="4773168" cy="1131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2E"/>
                </a:solidFill>
                <a:latin typeface="Calibri"/>
              </a:rPr>
              <a:t>A concise, Aristotelian-style definition that clarifies a term's meaning</a:t>
            </a:r>
            <a:r>
              <a:rPr lang="pt-BR" sz="1350" b="0" i="0" dirty="0">
                <a:solidFill>
                  <a:srgbClr val="1A1A2E"/>
                </a:solidFill>
                <a:latin typeface="Calibri"/>
              </a:rPr>
              <a:t>:</a:t>
            </a:r>
            <a:r>
              <a:rPr lang="pt-BR" sz="135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i="0" dirty="0">
                <a:solidFill>
                  <a:srgbClr val="1A1A2E"/>
                </a:solidFill>
                <a:latin typeface="Calibri"/>
              </a:rPr>
              <a:t>"X  is a  Y  that  Z"</a:t>
            </a:r>
            <a:r>
              <a:rPr lang="en-US" sz="1350" b="0" i="0" dirty="0">
                <a:solidFill>
                  <a:srgbClr val="1A1A2E"/>
                </a:solidFill>
                <a:latin typeface="Calibri"/>
              </a:rPr>
              <a:t>
</a:t>
            </a:r>
            <a:r>
              <a:rPr sz="1350" b="0" i="0" dirty="0">
                <a:solidFill>
                  <a:srgbClr val="1A1A2E"/>
                </a:solidFill>
                <a:latin typeface="Calibri"/>
              </a:rPr>
              <a:t>genus (Y) + differentia (Z) — easy to parse for both humans and LLMs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2825496"/>
            <a:ext cx="6016752" cy="14173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60720" y="2825496"/>
            <a:ext cx="64008" cy="1417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16168" y="2898648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Term:  Coquina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16168" y="3172968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A1A2E"/>
                </a:solidFill>
                <a:latin typeface="Calibri"/>
              </a:rPr>
              <a:t>"Coquina is a sedimentary rock that is composed of cemented bioclastic fragments — mainly mollusk shells — deposited in high-energy shallow marine environments, and is a key Pre-Salt reservoir rock in Brazil."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443984"/>
            <a:ext cx="11365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Key Insight — Lopes Junior (2025)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828032"/>
            <a:ext cx="3520440" cy="16002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" y="4828032"/>
            <a:ext cx="352044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965191"/>
            <a:ext cx="3246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Language models using NLDs to classify domain entities into top-level ontology concepts achieve &gt;90% macro F1-score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4828032"/>
            <a:ext cx="3520440" cy="16002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4828032"/>
            <a:ext cx="352044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34840" y="4965191"/>
            <a:ext cx="3246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NLDs are the most effective textual representation for ontological classification, even across multilingual settings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4828032"/>
            <a:ext cx="3520440" cy="16002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600" y="4828032"/>
            <a:ext cx="352044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66760" y="4965191"/>
            <a:ext cx="3246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No prior work had leveraged this NLD insight for corpus-grounded extraction and formal hierarchy mapping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9144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Methodology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599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4 phases — applied to 40 curated Brazilian Pre-Salt scientific articles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96112"/>
            <a:ext cx="11365992" cy="2011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548640" cy="2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6510528"/>
            <a:ext cx="11365992" cy="2011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" y="1115568"/>
            <a:ext cx="2560320" cy="3840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9788" y="1115568"/>
            <a:ext cx="256032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9788" y="12070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  <a:latin typeface="Calibri"/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" y="1527048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Corpus
Preparation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" y="2395728"/>
            <a:ext cx="234086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1A2E"/>
                </a:solidFill>
                <a:latin typeface="Calibri"/>
              </a:rPr>
              <a:t>40 peer-reviewed Pre-Salt articles
Curated by senior domain specialist
Automatic text extraction (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pdftotext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7540" y="289864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6140" y="1115568"/>
            <a:ext cx="2560320" cy="3840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06140" y="1115568"/>
            <a:ext cx="256032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06140" y="12070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7580" y="1527048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Term Acquisition
(4 Pipelines)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5868" y="2395728"/>
            <a:ext cx="234086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LLM + Corpus (extractive)
LLM Generated (zero-shot)
NER + Corpus (hybrid)
TF-IDF (baseline)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3892" y="289864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2492" y="1115568"/>
            <a:ext cx="2560320" cy="3840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22492" y="1115568"/>
            <a:ext cx="256032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22492" y="12070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  <a:latin typeface="Calibri"/>
              </a:rP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3932" y="1527048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NLD-Centric
Classification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2220" y="2395728"/>
            <a:ext cx="234086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LLM generates Aristotelian NLD
Chain-of-Thought categorization
BFO → GeoCore → GeoReservoir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10244" y="289864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38844" y="1115568"/>
            <a:ext cx="2560320" cy="3840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38844" y="1115568"/>
            <a:ext cx="256032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38844" y="12070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  <a:latin typeface="Calibri"/>
              </a:rPr>
              <a:t>Phase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0284" y="1527048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Specialist
Validation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8572" y="2395728"/>
            <a:ext cx="234086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5 domain experts (PhD + MSc)
Term Relevance, NLD Accuracy,
Category Accuracy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172200"/>
            <a:ext cx="11365992" cy="38404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6217920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3864"/>
                </a:solidFill>
                <a:latin typeface="Calibri"/>
              </a:rPr>
              <a:t>Model: Gemini 2.5 Pro  ·  Temperature = 0 (deterministic)  ·  Ontology stack: BFO → GeoCore → GeoReservoir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9144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Phase 2: The Four Term Extraction Pipelines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96112"/>
            <a:ext cx="11365992" cy="2011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896112"/>
            <a:ext cx="548640" cy="2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6510528"/>
            <a:ext cx="11365992" cy="2011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24128"/>
            <a:ext cx="534924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024128"/>
            <a:ext cx="5349240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5B6"/>
                </a:solidFill>
                <a:latin typeface="Calibri"/>
              </a:rPr>
              <a:t>P1 — LLM + Corpus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72768"/>
            <a:ext cx="5074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Extractive mode: LLM reads each of the 40 articles and extracts all relevant geological terms directly from the text.
Stemming + normalization applied for aggregation.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024128"/>
            <a:ext cx="534924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80760" y="1024128"/>
            <a:ext cx="5349240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1133856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D7D31"/>
                </a:solidFill>
                <a:latin typeface="Calibri"/>
              </a:rPr>
              <a:t>P2 — LLM Generated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572768"/>
            <a:ext cx="5074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Zero-shot, corpus-agnostic: LLM generates the 500 most important domain terms from its pre-trained knowledge alone.
Temperature = 0.2 for slight lexical variance.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584448"/>
            <a:ext cx="534924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1480" y="3584448"/>
            <a:ext cx="5349240" cy="64008"/>
          </a:xfrm>
          <a:prstGeom prst="rect">
            <a:avLst/>
          </a:prstGeom>
          <a:solidFill>
            <a:srgbClr val="5B2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694176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B2C8D"/>
                </a:solidFill>
                <a:latin typeface="Calibri"/>
              </a:rPr>
              <a:t>P3 — NER + Corpus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33088"/>
            <a:ext cx="5074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Hybrid / cross-lingual: XLM-RoBERTa Large fine-tuned on PetroGeoNER corpus extracts terms + NER labels.
Tests specialized NER model against general LLM.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3584448"/>
            <a:ext cx="534924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80760" y="3584448"/>
            <a:ext cx="5349240" cy="640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3694176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Calibri"/>
              </a:rPr>
              <a:t>P4 — TF-IDF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133088"/>
            <a:ext cx="5074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Statistical baseline: Term Frequency–Inverse Document Frequency on the 40-article corpus.
Replicates traditional frequency-based methodology (Garcia et al., 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263640"/>
            <a:ext cx="11365992" cy="347472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630936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All 4 pipelines feed into the same unified NLD-centric classification module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9144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Phase 3: NLD-Centric Classification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599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Standardized across all pipelines — explicitly tests Lopes Junior (2025)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96112"/>
            <a:ext cx="11365992" cy="2011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548640" cy="2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6510528"/>
            <a:ext cx="11365992" cy="2011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" y="1069848"/>
            <a:ext cx="3291840" cy="23317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5236" y="1069848"/>
            <a:ext cx="3291840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2396" y="11887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Step 1 — NLD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" y="1664208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LLM role: "Senior geoscientist + ontology engineer"
Aristotelian-style definition for each term:
"X is a Y that Z"
Concise, technically clear, canonical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1084" y="2052828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E75B6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8556" y="1069848"/>
            <a:ext cx="3291840" cy="23317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48556" y="1069848"/>
            <a:ext cx="3291840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85716" y="11887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D7D31"/>
                </a:solidFill>
                <a:latin typeface="Calibri"/>
              </a:rPr>
              <a:t>Step 2 — CoT Categorization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5716" y="1664208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Chain-of-Thought prompt: LLM analyzes
term + NLD together
Assigns most specific category possible
Fallback hierarchy:
GeoReservoir  →  GeoCore  →  BFO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04404" y="2052828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E75B6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51876" y="1069848"/>
            <a:ext cx="3291840" cy="23317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51876" y="1069848"/>
            <a:ext cx="3291840" cy="64008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89036" y="11887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8855"/>
                </a:solidFill>
                <a:latin typeface="Calibri"/>
              </a:rPr>
              <a:t>Resulting Artifact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9036" y="1664208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Formally instantiated into
multi-layered hierarchy:
BFO → GeoCore → GeoReservoir
Expert-validated taxonomy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675888"/>
            <a:ext cx="11365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Examples from the Pre-Salt corpus: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059936"/>
            <a:ext cx="3636264" cy="21031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1480" y="4059936"/>
            <a:ext cx="3636264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1208" y="4151376"/>
            <a:ext cx="3453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Term:  Coquina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" y="4480560"/>
            <a:ext cx="34533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1A1A2E"/>
                </a:solidFill>
                <a:latin typeface="Calibri"/>
              </a:rPr>
              <a:t>"Coquina is a sedimentary rock that is composed of cemented bioclastic fragments — mainly mollusk shells — deposited in high-energy shallow marine environments, serving as a primary Pre-Salt reservoir rock in Brazil."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751576"/>
            <a:ext cx="3453384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5769864"/>
            <a:ext cx="3361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→  GeoReservoir:SedimentaryRock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6344" y="4059936"/>
            <a:ext cx="3636264" cy="21031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276344" y="4059936"/>
            <a:ext cx="3636264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86072" y="4151376"/>
            <a:ext cx="3453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D7D31"/>
                </a:solidFill>
                <a:latin typeface="Calibri"/>
              </a:rPr>
              <a:t>Term:  Diagenesis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6072" y="4480560"/>
            <a:ext cx="34533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1A1A2E"/>
                </a:solidFill>
                <a:latin typeface="Calibri"/>
              </a:rPr>
              <a:t>"Diagenesis is a geological process that encompasses the physical, chemical, and biological changes affecting sedimentary material after deposition, including cementation, compaction, and dissolution, altering reservoir quality."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7784" y="5751576"/>
            <a:ext cx="3453384" cy="31089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13504" y="5769864"/>
            <a:ext cx="3361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→  GeoCore:GeologicalProcess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41208" y="4059936"/>
            <a:ext cx="3636264" cy="21031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141208" y="4059936"/>
            <a:ext cx="3636264" cy="54864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50936" y="4151376"/>
            <a:ext cx="3453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8855"/>
                </a:solidFill>
                <a:latin typeface="Calibri"/>
              </a:rPr>
              <a:t>Term:  Porosity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0936" y="4480560"/>
            <a:ext cx="34533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1A1A2E"/>
                </a:solidFill>
                <a:latin typeface="Calibri"/>
              </a:rPr>
              <a:t>"Porosity is a quality of a rock that is measured by the ratio of void space to total rock volume, controlling fluid storage capacity and governing the economic viability of a petroleum reservoir."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32648" y="5751576"/>
            <a:ext cx="3453384" cy="310896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78368" y="5769864"/>
            <a:ext cx="3361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→  BFO:Quality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9144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Phase 4: Blind Multi-Expert Validation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96112"/>
            <a:ext cx="11365992" cy="2011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896112"/>
            <a:ext cx="548640" cy="2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6510528"/>
            <a:ext cx="11365992" cy="2011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24128"/>
            <a:ext cx="4572000" cy="16459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024128"/>
            <a:ext cx="73152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11556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5 Domain Specialists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99616"/>
            <a:ext cx="4297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PhD &amp; MSc holders — up to 20 years experience
Industry + Academia (Brazilian Pre-Salt)
Provided 100 reference terms before extraction (20 each)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57800" y="1024128"/>
            <a:ext cx="6583680" cy="16459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257800" y="1024128"/>
            <a:ext cx="73152" cy="1645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40680" y="1115568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Sampling Strategy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1499616"/>
            <a:ext cx="6309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100 top-ranked terms/pipeline × 4 pipelines = 400 entries
Combined, anonymized, and randomized into a single list
Blind: evaluators did not know which pipeline produced each term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944368"/>
            <a:ext cx="3520440" cy="2606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1480" y="2944368"/>
            <a:ext cx="3520440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06324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Term Relevance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4728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5 experts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767328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Relevant / Irrelevant / Invalid / Unknown
Same specialists who provided reference terms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87952" y="2944368"/>
            <a:ext cx="3520440" cy="2606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87952" y="2944368"/>
            <a:ext cx="3520440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25112" y="306324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D7D31"/>
                </a:solidFill>
                <a:latin typeface="Calibri"/>
              </a:rPr>
              <a:t>NLD Accuracy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344728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3 experts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5112" y="3767328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Correct / Partially Correct / Incorrect
Ambiguous / Wrong Context / Unknown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64424" y="2944368"/>
            <a:ext cx="3520440" cy="2606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64424" y="2944368"/>
            <a:ext cx="3520440" cy="64008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01584" y="306324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8855"/>
                </a:solidFill>
                <a:latin typeface="Calibri"/>
              </a:rPr>
              <a:t>Category 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4" y="344728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3 experts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1584" y="3767328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Correct &amp; Specific / Correct but Unspecific
Incorrect / Unknown
Captures both accuracy and ontological depth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9144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Results — Term Coverage &amp; Relevance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96112"/>
            <a:ext cx="11365992" cy="2011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896112"/>
            <a:ext cx="548640" cy="2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6510528"/>
            <a:ext cx="11365992" cy="2011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15568"/>
            <a:ext cx="2194560" cy="457200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1152144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115568"/>
            <a:ext cx="1417320" cy="457200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670048" y="1152144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Recall (%)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115568"/>
            <a:ext cx="1417320" cy="457200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87368" y="1152144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Relevant (%)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40680" y="1115568"/>
            <a:ext cx="1554480" cy="457200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04688" y="1152144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Irrelevant (%)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5160" y="1115568"/>
            <a:ext cx="2103120" cy="457200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59168" y="115214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Strictly Relevant
(Consensus)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572768"/>
            <a:ext cx="219456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166420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LLM + Corpus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06040" y="1572768"/>
            <a:ext cx="141732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670048" y="166420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5B6"/>
                </a:solidFill>
                <a:latin typeface="Calibri"/>
              </a:rPr>
              <a:t>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0" y="1572768"/>
            <a:ext cx="141732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87368" y="166420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5B6"/>
                </a:solidFill>
                <a:latin typeface="Calibri"/>
              </a:rPr>
              <a:t>97.8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40680" y="1572768"/>
            <a:ext cx="155448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504688" y="166420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E75B6"/>
                </a:solidFill>
                <a:latin typeface="Calibri"/>
              </a:rPr>
              <a:t>2.0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95160" y="1572768"/>
            <a:ext cx="210312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59168" y="16642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5B6"/>
                </a:solidFill>
                <a:latin typeface="Calibri"/>
              </a:rPr>
              <a:t>91 / 100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029968"/>
            <a:ext cx="219456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5488" y="212140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LLM Generated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40" y="2029968"/>
            <a:ext cx="141732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70048" y="212140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40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029968"/>
            <a:ext cx="141732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87368" y="212140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96.2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0680" y="2029968"/>
            <a:ext cx="155448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504688" y="212140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3.8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95160" y="2029968"/>
            <a:ext cx="210312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59168" y="21214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88 / 100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2487168"/>
            <a:ext cx="219456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5488" y="257860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NER + Corpus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06040" y="2487168"/>
            <a:ext cx="141732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670048" y="257860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32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23360" y="2487168"/>
            <a:ext cx="141732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087368" y="257860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86.6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40680" y="2487168"/>
            <a:ext cx="155448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504688" y="257860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11.8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95160" y="2487168"/>
            <a:ext cx="210312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059168" y="25786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66 / 100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2944368"/>
            <a:ext cx="2194560" cy="45720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75488" y="303580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TF-IDF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06040" y="2944368"/>
            <a:ext cx="1417320" cy="45720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670048" y="303580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25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360" y="2944368"/>
            <a:ext cx="1417320" cy="45720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087368" y="303580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46.0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40680" y="2944368"/>
            <a:ext cx="1554480" cy="45720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504688" y="303580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46.4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95160" y="2944368"/>
            <a:ext cx="2103120" cy="45720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059168" y="30358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25 / 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18320" y="1115568"/>
            <a:ext cx="2359152" cy="74980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9418320" y="1115568"/>
            <a:ext cx="64008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573768" y="1225296"/>
            <a:ext cx="2130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LLM+Corpus: highest recall AND precision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18320" y="1984248"/>
            <a:ext cx="2359152" cy="74980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9418320" y="1984248"/>
            <a:ext cx="64008" cy="7498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573768" y="2093976"/>
            <a:ext cx="2130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Corpus grounding mitigates LLM "domain blindness"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18320" y="2852928"/>
            <a:ext cx="2359152" cy="74980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9418320" y="2852928"/>
            <a:ext cx="64008" cy="7498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573768" y="2962656"/>
            <a:ext cx="2130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TF-IDF: 46.4% irrelevant noise — semantically blind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18320" y="3721608"/>
            <a:ext cx="2359152" cy="74980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9418320" y="3721608"/>
            <a:ext cx="64008" cy="74980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573768" y="3831336"/>
            <a:ext cx="2130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NER: decent recall, but 33 'Mixed Feelings'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6172200"/>
            <a:ext cx="11365992" cy="347472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48640" y="621792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Recall = % of expert-defined reference terms recovered by each pipeline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9144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Results — NLD Quality &amp; Taxonomic Categorization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96112"/>
            <a:ext cx="11365992" cy="2011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896112"/>
            <a:ext cx="548640" cy="2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6510528"/>
            <a:ext cx="11365992" cy="2011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Natural Language Definition Accuracy (%)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35608"/>
            <a:ext cx="1874519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481328"/>
            <a:ext cx="181051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5999" y="1435608"/>
            <a:ext cx="822960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31719" y="1481328"/>
            <a:ext cx="75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LLM+C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59" y="1435608"/>
            <a:ext cx="822960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54679" y="1481328"/>
            <a:ext cx="75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LLM-G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19" y="1435608"/>
            <a:ext cx="822960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1481328"/>
            <a:ext cx="75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NER+C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79" y="1435608"/>
            <a:ext cx="822960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00599" y="1481328"/>
            <a:ext cx="75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TF-IDF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819656"/>
            <a:ext cx="1874519" cy="384048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1883664"/>
            <a:ext cx="181051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Correct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5999" y="1819656"/>
            <a:ext cx="822960" cy="384048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31719" y="1883664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53.7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59" y="1819656"/>
            <a:ext cx="822960" cy="384048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54679" y="1883664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66.0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19" y="1819656"/>
            <a:ext cx="822960" cy="384048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977639" y="1883664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57.0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79" y="1819656"/>
            <a:ext cx="822960" cy="384048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00599" y="1883664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34.7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203704"/>
            <a:ext cx="1874519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2267712"/>
            <a:ext cx="181051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Partially Correct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5999" y="2203704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331719" y="2267712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34.0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08959" y="2203704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154679" y="2267712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24.3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19" y="2203704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77639" y="2267712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22.3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79" y="2203704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800599" y="2267712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22.0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2587752"/>
            <a:ext cx="1874519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2651760"/>
            <a:ext cx="181051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Incorrect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5999" y="2587752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331719" y="2651760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9.7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08959" y="2587752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154679" y="2651760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6.7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31919" y="2587752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977639" y="2651760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15.3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79" y="2587752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800599" y="2651760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9.0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2971800"/>
            <a:ext cx="1874519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3035808"/>
            <a:ext cx="181051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Ambiguous/Unknown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85999" y="2971800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331719" y="3035808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2.0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08959" y="2971800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154679" y="3035808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2.6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31919" y="2971800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977639" y="3035808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54879" y="2971800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800599" y="3035808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30.4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" y="3493008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LLM-Generated leads on NLD accuracy — canonical terms have robust internal definitions.
LLM+Corpus suffers context blindness: complex terms lack source grounding.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72200" y="1024128"/>
            <a:ext cx="5605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Taxonomic Categorization — Final Majority Metrics (%)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72200" y="1435608"/>
            <a:ext cx="2331720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17920" y="1481328"/>
            <a:ext cx="22677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03920" y="1435608"/>
            <a:ext cx="749808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549640" y="1481328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LLM+C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253728" y="1435608"/>
            <a:ext cx="749808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299448" y="1481328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LLM-G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03536" y="1435608"/>
            <a:ext cx="749808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049256" y="1481328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NER+C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753344" y="1435608"/>
            <a:ext cx="749808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0799064" y="1481328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TF-IDF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1819656"/>
            <a:ext cx="2331720" cy="384048"/>
          </a:xfrm>
          <a:prstGeom prst="rect">
            <a:avLst/>
          </a:prstGeom>
          <a:solidFill>
            <a:srgbClr val="E2F3E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17920" y="1874520"/>
            <a:ext cx="22677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Majority Correct ✓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3920" y="1819656"/>
            <a:ext cx="749808" cy="384048"/>
          </a:xfrm>
          <a:prstGeom prst="rect">
            <a:avLst/>
          </a:prstGeom>
          <a:solidFill>
            <a:srgbClr val="E2F3E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549640" y="1874520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8855"/>
                </a:solidFill>
                <a:latin typeface="Calibri"/>
              </a:rPr>
              <a:t>71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253728" y="1819656"/>
            <a:ext cx="749808" cy="384048"/>
          </a:xfrm>
          <a:prstGeom prst="rect">
            <a:avLst/>
          </a:prstGeom>
          <a:solidFill>
            <a:srgbClr val="E2F3E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299448" y="1874520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8855"/>
                </a:solidFill>
                <a:latin typeface="Calibri"/>
              </a:rPr>
              <a:t>66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03536" y="1819656"/>
            <a:ext cx="749808" cy="384048"/>
          </a:xfrm>
          <a:prstGeom prst="rect">
            <a:avLst/>
          </a:prstGeom>
          <a:solidFill>
            <a:srgbClr val="E2F3E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049256" y="1874520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8855"/>
                </a:solidFill>
                <a:latin typeface="Calibri"/>
              </a:rPr>
              <a:t>68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753344" y="1819656"/>
            <a:ext cx="749808" cy="384048"/>
          </a:xfrm>
          <a:prstGeom prst="rect">
            <a:avLst/>
          </a:prstGeom>
          <a:solidFill>
            <a:srgbClr val="E2F3E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799064" y="1874520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8855"/>
                </a:solidFill>
                <a:latin typeface="Calibri"/>
              </a:rPr>
              <a:t>36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72200" y="2203704"/>
            <a:ext cx="233172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17920" y="2258568"/>
            <a:ext cx="22677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Majority Partial 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503920" y="2203704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549640" y="2258568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11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253728" y="2203704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9299448" y="2258568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003536" y="2203704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049256" y="2258568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10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753344" y="2203704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799064" y="2258568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2587752"/>
            <a:ext cx="2331720" cy="384048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17920" y="2642616"/>
            <a:ext cx="22677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Disputed / Rejected ✗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503920" y="2587752"/>
            <a:ext cx="749808" cy="384048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549640" y="2642616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18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253728" y="2587752"/>
            <a:ext cx="749808" cy="384048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299448" y="2642616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25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003536" y="2587752"/>
            <a:ext cx="749808" cy="384048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10049256" y="2642616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22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753344" y="2587752"/>
            <a:ext cx="749808" cy="384048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0799064" y="2642616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59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72200" y="2971800"/>
            <a:ext cx="233172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17920" y="3026664"/>
            <a:ext cx="22677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Strict Consensus
(Correct &amp; Specific)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503920" y="2971800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549640" y="3026664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39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253728" y="2971800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9299448" y="3026664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43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003536" y="2971800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10049256" y="3026664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23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753344" y="2971800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10799064" y="3026664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17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172200" y="3493008"/>
            <a:ext cx="5605272" cy="68580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6172200" y="3493008"/>
            <a:ext cx="73152" cy="685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6355080" y="3584448"/>
            <a:ext cx="5330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F3864"/>
                </a:solidFill>
                <a:latin typeface="Calibri"/>
              </a:rPr>
              <a:t>LLM+Corpus: highest overall accuracy (71%) + lowest rejection (18%).
Corpus acts as a decisive 'validity filter' for extracted terms.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9144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Resulting Conceptual Artifact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599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Expert-validated preliminary domain taxonomy — Brazilian Pre-Salt Petroleum Reservoirs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96112"/>
            <a:ext cx="11365992" cy="2011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548640" cy="2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6510528"/>
            <a:ext cx="11365992" cy="2011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24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What was produced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435608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Terms with unanimous expert consensus (Relevant + Correct &amp; Specific)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Formally placed in BFO → GeoCore → GeoReservoir hierarchy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Not yet axiomatized (no properties/relations yet)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Foundation for an industrial petroleum similarity-search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008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Example taxonomy paths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401568"/>
            <a:ext cx="4572000" cy="10058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3401568"/>
            <a:ext cx="64008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44728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Shale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85616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BFO:Entity → Continuant → Indep. Continuant
→ Material Entity → GeoCore:AmountOfRock
→ GeoReservoir:SedimentaryRock → Shale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8"/>
            <a:ext cx="4572000" cy="10058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1480" y="4498848"/>
            <a:ext cx="64008" cy="10058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54456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D7D31"/>
                </a:solidFill>
                <a:latin typeface="Calibri"/>
              </a:rPr>
              <a:t>Diagenesis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82896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BFO:Entity → Occurrent → Process
→ GeoCore:GeologicalProcess → Diagenesis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596128"/>
            <a:ext cx="4572000" cy="10058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" y="5596128"/>
            <a:ext cx="64008" cy="1005840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64184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8855"/>
                </a:solidFill>
                <a:latin typeface="Calibri"/>
              </a:rPr>
              <a:t>Porosity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80176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BFO:Entity → Continuant → Spec. Dep. Continuant
→ BFO:Quality → Porosity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1024128"/>
            <a:ext cx="6473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Scope of the taxonomy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0" y="1481328"/>
            <a:ext cx="6473952" cy="5486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303520" y="1481328"/>
            <a:ext cx="54864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40680" y="1508760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Sedimentary Rocks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1755648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Evaporite, Microbialite, Shale, Source Rock, Coquina…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2075688"/>
            <a:ext cx="6473952" cy="5486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303520" y="2075688"/>
            <a:ext cx="54864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40680" y="2103120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Geological Processes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2350008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Diagenesis, Dissolution, Compaction, Erosion…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0" y="2670048"/>
            <a:ext cx="6473952" cy="5486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303520" y="2670048"/>
            <a:ext cx="54864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40680" y="2697480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Geological Properties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2944368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Porosity, Permeability, Reservoir Quality, Alkalinity…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03520" y="3264408"/>
            <a:ext cx="6473952" cy="5486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303520" y="3264408"/>
            <a:ext cx="54864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40680" y="3291840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Earth Fluids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0680" y="3538728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Hydrocarbon, Organic Matter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03520" y="3858768"/>
            <a:ext cx="6473952" cy="5486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303520" y="3858768"/>
            <a:ext cx="54864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40680" y="3886200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Geological Contacts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40680" y="4133088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Onlap, Unconformity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4453128"/>
            <a:ext cx="6473952" cy="5486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303520" y="4453128"/>
            <a:ext cx="54864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440680" y="4480560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Time Intervals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80" y="4727448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Aptian, Barremian, Hauterivian, Early Cretaceous…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03520" y="5230368"/>
            <a:ext cx="6473952" cy="5029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394960" y="5303520"/>
            <a:ext cx="6291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5B6"/>
                </a:solidFill>
                <a:latin typeface="Calibri"/>
              </a:rPr>
              <a:t>github.com/BDI-UFRGS/PreSaltOntology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9144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What the Experiment Revealed — Open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599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These findings directly motivate our current, improved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96112"/>
            <a:ext cx="11365992" cy="2011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548640" cy="2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6510528"/>
            <a:ext cx="11365992" cy="2011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15568"/>
            <a:ext cx="3617976" cy="374903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115568"/>
            <a:ext cx="3617976" cy="640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" y="1225296"/>
            <a:ext cx="339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Calibri"/>
              </a:rPr>
              <a:t>Context Blindness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64208"/>
            <a:ext cx="3435096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" y="1773936"/>
            <a:ext cx="3398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1A2E"/>
                </a:solidFill>
                <a:latin typeface="Calibri"/>
              </a:rPr>
              <a:t>NLDs generated without source context → generic / outdated definitions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2350008"/>
            <a:ext cx="3398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LLM+Corpus: 34% 'Partially Correct' NLDs despite best term quality
• Outdated paradigms propagated (e.g., homogeneous microbial origin of Pre-Salt carbonates)
• General LLM's training data has temporal constraints
→ Fix: provide relevant corpus passages at NLD generation time (RAG)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5488" y="1115568"/>
            <a:ext cx="3617976" cy="374903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85488" y="1115568"/>
            <a:ext cx="3617976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95216" y="1225296"/>
            <a:ext cx="339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D7D31"/>
                </a:solidFill>
                <a:latin typeface="Calibri"/>
              </a:rPr>
              <a:t>Ambiguity — Not-Strict Consensus Gap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6928" y="1664208"/>
            <a:ext cx="3435096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95216" y="1773936"/>
            <a:ext cx="3398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1A2E"/>
                </a:solidFill>
                <a:latin typeface="Calibri"/>
              </a:rPr>
              <a:t>Expert disagreement on complex real-world terms reveals categorization limits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5216" y="2350008"/>
            <a:ext cx="3398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LLM+Corpus: 39 Strict vs 32 Majority-only correct (categorization)
• LLM's reasoning potential constrained by lack of domain grounding
• Real terms extracted from reports are inherently more ambiguous
→ Fix: source context in NLD phase expected to elevate majority → strict consensus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9496" y="1115568"/>
            <a:ext cx="3617976" cy="374903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59496" y="1115568"/>
            <a:ext cx="3617976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69224" y="1225296"/>
            <a:ext cx="339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5B6"/>
                </a:solidFill>
                <a:latin typeface="Calibri"/>
              </a:rPr>
              <a:t>Granularity Gap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50936" y="1664208"/>
            <a:ext cx="3435096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69224" y="1773936"/>
            <a:ext cx="3398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1A2E"/>
                </a:solidFill>
                <a:latin typeface="Calibri"/>
              </a:rPr>
              <a:t>Automated extraction favors generic terms; compound terms and properties are under-extracted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9224" y="2350008"/>
            <a:ext cx="3398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Petrophysical properties (e.g., 'grain roundness') systematically missed
• Prompt constraints prioritized classes, excluded numerical values
• Experts expected more specific compound terms
→ Fix: explicit prompt instruction to also extract properties and attributes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047487"/>
            <a:ext cx="11365992" cy="59436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5047487"/>
            <a:ext cx="73152" cy="5943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5138927"/>
            <a:ext cx="11045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All three problems point to the same architectural fix: Retrieval-Augmented Generation (RAG) in the NLD generation phase.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9144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Ongoing Work &amp;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96112"/>
            <a:ext cx="11365992" cy="2011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896112"/>
            <a:ext cx="548640" cy="2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6510528"/>
            <a:ext cx="11365992" cy="2011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Current Implementation (addressing all open problems)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81328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Hybrid RAG retrieval: dense (BGE-M3) + sparse (BM25) + cross-encoder reranker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NLD generation grounded in source corpus passages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Expanded corpus: 80 papers (2× the preliminary experiment)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Ablation study: 4 conditions — Full RAG / No RAG / No NLD / Raw RAG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Statistical expert evaluation: Wilcoxon, Friedman, ICC, Fleiss' kappa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OWL export: complete taxonomy → Turtle RDF (Protégé-compatible)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024128"/>
            <a:ext cx="5513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Conclusions from this paper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81328"/>
            <a:ext cx="5513832" cy="67665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481328"/>
            <a:ext cx="64008" cy="676656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2" y="1572768"/>
            <a:ext cx="5257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LLM+Corpus is the strongest strategy: 60% recall, 97.8% precision, 71% correct categories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286000"/>
            <a:ext cx="5513832" cy="67665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2286000"/>
            <a:ext cx="64008" cy="676656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2377440"/>
            <a:ext cx="5257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NLDs as a semantic pivot are effective: formal multi-layered classification without fine-tuning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090672"/>
            <a:ext cx="5513832" cy="67665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090672"/>
            <a:ext cx="64008" cy="676656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28232" y="3182112"/>
            <a:ext cx="5257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fine-tuning required: general-purpose LLMs can bootstrap domain ontology construction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895344"/>
            <a:ext cx="5513832" cy="67665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3895344"/>
            <a:ext cx="64008" cy="67665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28232" y="3986784"/>
            <a:ext cx="5257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Context blindness is the principal remaining bottleneck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4700016"/>
            <a:ext cx="5513832" cy="67665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63640" y="4700016"/>
            <a:ext cx="64008" cy="67665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2" y="4791456"/>
            <a:ext cx="5257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RAG is the clear architectural next step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897880"/>
            <a:ext cx="11365992" cy="2011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1480" y="5897880"/>
            <a:ext cx="548640" cy="2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5934456"/>
            <a:ext cx="11365992" cy="91440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598932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Thank you!   Questions welcome.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0080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E75B6"/>
                </a:solidFill>
                <a:latin typeface="Calibri"/>
              </a:rPr>
              <a:t>github.com/BDI-UFRGS/PreSaltOntology  ·  Funded by CAPES, CNPq, Petrobras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1889</Words>
  <Application>Microsoft Office PowerPoint</Application>
  <PresentationFormat>Custom</PresentationFormat>
  <Paragraphs>251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Andrade</cp:lastModifiedBy>
  <cp:revision>2</cp:revision>
  <dcterms:created xsi:type="dcterms:W3CDTF">2013-01-27T09:14:16Z</dcterms:created>
  <dcterms:modified xsi:type="dcterms:W3CDTF">2026-04-02T18:39:20Z</dcterms:modified>
  <cp:category/>
</cp:coreProperties>
</file>